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Visa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Classic</c:v>
                </c:pt>
                <c:pt idx="1">
                  <c:v>Gold</c:v>
                </c:pt>
                <c:pt idx="2">
                  <c:v>Platinum</c:v>
                </c:pt>
                <c:pt idx="3">
                  <c:v>Signature</c:v>
                </c:pt>
                <c:pt idx="4">
                  <c:v>Infinite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1.17</c:v>
                </c:pt>
                <c:pt idx="1">
                  <c:v>1.34</c:v>
                </c:pt>
                <c:pt idx="2">
                  <c:v>1.73</c:v>
                </c:pt>
                <c:pt idx="3">
                  <c:v>1.79</c:v>
                </c:pt>
                <c:pt idx="4">
                  <c:v>1.83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Mastercard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Classic</c:v>
                </c:pt>
                <c:pt idx="1">
                  <c:v>Gold</c:v>
                </c:pt>
                <c:pt idx="2">
                  <c:v>Platinum</c:v>
                </c:pt>
                <c:pt idx="3">
                  <c:v>Signature</c:v>
                </c:pt>
                <c:pt idx="4">
                  <c:v>Infinite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</c:v>
                </c:pt>
                <c:pt idx="1">
                  <c:v>1.2</c:v>
                </c:pt>
                <c:pt idx="2">
                  <c:v>1.65</c:v>
                </c:pt>
                <c:pt idx="3">
                  <c:v>1.8</c:v>
                </c:pt>
                <c:pt idx="4">
                  <c:v>2.22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0.5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demarest.com.br/banco-central-divulga-estatisticas-de-pagamentos-de-varejo-e-de-cartoes-no-brasil-referentes-a-2023/#:~:text=1,dinheiro%20em%20esp%C3%A9cie" TargetMode="External"/><Relationship Id="rId3" Type="http://schemas.openxmlformats.org/officeDocument/2006/relationships/hyperlink" Target="https://www.demarest.com.br/banco-central-divulga-estatisticas-de-pagamentos-de-varejo-e-de-cartoes-no-brasil-referentes-a-2023/#:~:text=%2A%20O%20Pix%20representou%2039,%C3%BAltimo%20trimestre%20de%202023%20j%C3%A1" TargetMode="External"/><Relationship Id="rId4" Type="http://schemas.openxmlformats.org/officeDocument/2006/relationships/hyperlink" Target="https://www.demarest.com.br/banco-central-divulga-estatisticas-de-pagamentos-de-varejo-e-de-cartoes-no-brasil-referentes-a-2023/#:~:text=2" TargetMode="External"/><Relationship Id="rId5" Type="http://schemas.openxmlformats.org/officeDocument/2006/relationships/hyperlink" Target="https://www.demarest.com.br/banco-central-divulga-estatisticas-de-pagamentos-de-varejo-e-de-cartoes-no-brasil-referentes-a-2023/#:~:text=6" TargetMode="External"/><Relationship Id="rId6" Type="http://schemas.openxmlformats.org/officeDocument/2006/relationships/hyperlink" Target="https://regulacaoemnumeros-direitorio.fgv.br/post/banco-central-aprova-resolucao-que-disciplina-tarifa-de-intercambio-de-cartao-de-debito-e-pre#:~:text=interc%C3%A2mbio%20cobradas%20nas%20transa%C3%A7%C3%B5es%20realizadas,887%2F201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Análise de Tarifas de Intercâmbio e Estatísticas de Pagamentos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Comparação entre Visa, Mastercard e dados do Banco Central (BCB), 2023</a:t>
            </a:r>
          </a:p>
        </p:txBody>
      </p:sp>
      <p:pic>
        <p:nvPicPr>
          <p:cNvPr id="4" name="Picture 3" descr="c8fcac70-45c8-4ca5-b024-6ddc1551e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/>
              <a:t>Visão geral do desafio e objetivo</a:t>
            </a:r>
          </a:p>
          <a:p>
            <a:pPr/>
            <a:r>
              <a:rPr/>
              <a:t>Metodologia de extração de dados</a:t>
            </a:r>
          </a:p>
          <a:p>
            <a:pPr/>
            <a:r>
              <a:rPr/>
              <a:t>Resumo das tarifas de intercâmbio (Visa &amp; Mastercard)</a:t>
            </a:r>
          </a:p>
          <a:p>
            <a:pPr/>
            <a:r>
              <a:rPr/>
              <a:t>Estatísticas do Banco Central (BCB)</a:t>
            </a:r>
          </a:p>
          <a:p>
            <a:pPr/>
            <a:r>
              <a:rPr/>
              <a:t>Comparações e insights</a:t>
            </a:r>
          </a:p>
          <a:p>
            <a:pPr/>
            <a:r>
              <a:rPr/>
              <a:t>Conclusões e recomendações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Desafio e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/>
              <a:t>O desafio consiste em desenvolver um pipeline automatizado para extrair e estruturar as regras de tarifas de intercâmbio a partir de manuais das bandeiras Visa e Mastercard, permitindo comparar taxas por tipo de cartão, segmento e modalidade de transação.</a:t>
            </a:r>
          </a:p>
          <a:p/>
          <a:p>
            <a:r>
              <a:rPr/>
              <a:t>Além disso, é necessário compilar estatísticas do Banco Central (BCB) sobre pagamentos de varejo no Brasil para contextualizar o mercado e identificar tendências de uso de instrumentos de pagamento.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Metodologia de Extração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/>
              <a:t>Pesquisa de documentos oficiais e tabelas nas páginas das bandeiras (Visa e Mastercard).</a:t>
            </a:r>
          </a:p>
          <a:p>
            <a:pPr/>
            <a:r>
              <a:rPr/>
              <a:t>Extração manual e via OCR dos dados em PDFs e imagens (tabelas em PNG no site da Mastercard).</a:t>
            </a:r>
          </a:p>
          <a:p>
            <a:pPr/>
            <a:r>
              <a:rPr/>
              <a:t>Estruturação dos dados em planilhas: identificação de categorias (tipo de cartão, segmento, ajustes).</a:t>
            </a:r>
          </a:p>
          <a:p>
            <a:pPr/>
            <a:r>
              <a:rPr/>
              <a:t>Incorporação de estatísticas do Banco Central sobre volume de transações, participação de mercado e limites regulatórios de tarifa de intercâmbio.</a:t>
            </a:r>
          </a:p>
          <a:p>
            <a:pPr/>
            <a:r>
              <a:rPr/>
              <a:t>Organização em diferentes sheets (Visa, Mastercard, BCB) para facilitar análises comparativas.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Tarifas de Intercâmbio – Visa (Brasil)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/>
              <a:t>Crédito (consumidor): taxas base variam de 1,17% (Classic) a 1,83% (Infinite) com ajustes para pagamentos sem contato (+0,00%) e compras online ou não presenciais (+0,20%). Parcelamentos de 2–6 parcelas adicionam +0,65 p.p. e 7–21 parcelas +0,90 p.p. por transação.</a:t>
            </a:r>
          </a:p>
          <a:p>
            <a:pPr/>
            <a:r>
              <a:rPr/>
              <a:t>Crédito (comercial): informações públicas limitadas; base aproximada de 1,65% a 1,80% dependendo do segmento.</a:t>
            </a:r>
          </a:p>
          <a:p>
            <a:pPr/>
            <a:r>
              <a:rPr/>
              <a:t>Débito: taxa fixa de 0,50% em todas as transações, conforme regulamentação do BCB.</a:t>
            </a:r>
          </a:p>
          <a:p>
            <a:pPr/>
            <a:r>
              <a:rPr/>
              <a:t>Pré‑pago: taxa fixa de 0,70% por transação (consumidor ou comercial).</a:t>
            </a:r>
          </a:p>
          <a:p>
            <a:pPr/>
            <a:r>
              <a:rPr/>
              <a:t>Ajustes por segmento: alguns segmentos (supermercados, hotéis, viagens, etc.) podem ter reduções, mas as diretrizes públicas indicam variações menores.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Tarifas de Intercâmbio – Mastercard (Crédito Consumidor)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/>
              <a:t>Taxas base por categoria: Standard 1,10%, Gold 1,20%, Platinum 1,65%, Black 1,80% e World Legend 2,22%.</a:t>
            </a:r>
          </a:p>
          <a:p>
            <a:pPr/>
            <a:r>
              <a:rPr/>
              <a:t>Segmentos: Supermercados (~0,95–1,40%), Despesas Gerais (0,50–0,80%), Outros (0,85–0,90%), Serviços governamentais (~1,20%), Transporte (0,65%), Viagens &amp; Entretenimento (0,85–1,70%), Atacadistas (0,65–0,85%), Loteria (0,50%).</a:t>
            </a:r>
          </a:p>
          <a:p>
            <a:pPr/>
            <a:r>
              <a:rPr/>
              <a:t>Ajustes: pagamentos sem contato +0,05 p.p.; compras online ou não presenciais +0,20 p.p. (supermercados +0,10 p.p.).</a:t>
            </a:r>
          </a:p>
          <a:p>
            <a:pPr/>
            <a:r>
              <a:rPr/>
              <a:t>Parcelamentos: 2–6 parcelas +0,65 p.p.; 7–21 parcelas +0,90 p.p. com teto de R$ 0,90 por transação.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Mastercard – Comercial, Alto Valor e Outros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/>
              <a:t>Crédito Comercial: Business (1,65%), Affluent (1,80%), CTA (1,80%), P‑Card (0,75%), Agro (1,65%). Segmentos variam, com valores entre 1,30% e 1,95%.</a:t>
            </a:r>
          </a:p>
          <a:p>
            <a:pPr/>
            <a:r>
              <a:rPr/>
              <a:t>Transações de alto valor (consumidor e comercial): combinam taxa fixa (R$55 a R$440) + alíquota percentual (~0,17–0,30%). Mínimo de R$ 20 mil à vista ou R$ 10 mil por parcela para parcelamentos.</a:t>
            </a:r>
          </a:p>
          <a:p>
            <a:pPr/>
            <a:r>
              <a:rPr/>
              <a:t>Pré‑pago (com e sem PIN): taxa base de 0,70% para todos os segmentos; alguns segmentos recebem 0,30% (despesas gerais, governo, transporte, loterias e micro comércios). Ajustes: compras não presenciais –0,40 p.p.; teto de R$0,30 por transação.</a:t>
            </a:r>
          </a:p>
          <a:p>
            <a:pPr/>
            <a:r>
              <a:rPr/>
              <a:t>Débito (Maestro): taxa base de 0,50%; supermercados 0,45%; despesas gerais 0,25%; atacadistas 0,35%; outros 0,50%; ajustes para transações não presenciais variam de –0,25 p.p. a 0.00 p.p.; teto de R$0,30 por transação.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Estatísticas de Pagamentos – Banco Central (BCB)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/>
              <a:t>Foram realizadas 108,7 bilhões de transações não monetárias em 2023, movimentando R$ 99,7 trilhões (≈9,1× o PIB). Houve crescimento de 31% na quantidade de transações e 9% no volume em relação a 2022</a:t>
            </a:r>
            <a:r>
              <a:rPr u="sng">
                <a:solidFill>
                  <a:schemeClr val="accent6"/>
                </a:solidFill>
                <a:hlinkClick r:id="rId2"/>
              </a:rPr>
              <a:t>(www.demarest.com.br)</a:t>
            </a:r>
            <a:r>
              <a:rPr/>
              <a:t>.</a:t>
            </a:r>
          </a:p>
          <a:p>
            <a:pPr/>
            <a:r>
              <a:rPr/>
              <a:t>O Pix representou 39% das transações e os cartões 41%</a:t>
            </a:r>
            <a:r>
              <a:rPr u="sng">
                <a:solidFill>
                  <a:schemeClr val="accent6"/>
                </a:solidFill>
                <a:hlinkClick r:id="rId3"/>
              </a:rPr>
              <a:t>(www.demarest.com.br)</a:t>
            </a:r>
            <a:r>
              <a:rPr/>
              <a:t>. O pré‑pago cresceu 36% em 2023, respondendo por 23% das transações com cartões</a:t>
            </a:r>
            <a:r>
              <a:rPr u="sng">
                <a:solidFill>
                  <a:schemeClr val="accent6"/>
                </a:solidFill>
                <a:hlinkClick r:id="rId4"/>
              </a:rPr>
              <a:t>(www.demarest.com.br)</a:t>
            </a:r>
            <a:r>
              <a:rPr/>
              <a:t/>
            </a:r>
            <a:r>
              <a:rPr u="sng">
                <a:solidFill>
                  <a:schemeClr val="accent6"/>
                </a:solidFill>
                <a:hlinkClick r:id="rId5"/>
              </a:rPr>
              <a:t>(www.demarest.com.br)</a:t>
            </a:r>
            <a:r>
              <a:rPr/>
              <a:t>.</a:t>
            </a:r>
          </a:p>
          <a:p>
            <a:pPr/>
            <a:r>
              <a:rPr/>
              <a:t>Valores médios por transação: crédito R$128, débito R$61 e pré‑pago R$26</a:t>
            </a:r>
            <a:r>
              <a:rPr u="sng">
                <a:solidFill>
                  <a:schemeClr val="accent6"/>
                </a:solidFill>
                <a:hlinkClick r:id="rId5"/>
              </a:rPr>
              <a:t>(www.demarest.com.br)</a:t>
            </a:r>
            <a:r>
              <a:rPr/>
              <a:t>.</a:t>
            </a:r>
          </a:p>
          <a:p>
            <a:pPr/>
            <a:r>
              <a:rPr/>
              <a:t>As tarifas de intercâmbio de crédito mantiveram‑se estáveis; débitos e pré‑pagos caíram em razão da limitação imposta pelo BC (0,5% para débito e 0,7% para pré‑pago)</a:t>
            </a:r>
            <a:r>
              <a:rPr u="sng">
                <a:solidFill>
                  <a:schemeClr val="accent6"/>
                </a:solidFill>
                <a:hlinkClick r:id="rId6"/>
              </a:rPr>
              <a:t>(regulacaoemnumeros-direitorio.fgv.br)</a:t>
            </a:r>
            <a:r>
              <a:rPr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Comparação de Taxas Base de Crédito (Consumidor)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Conclusões e Recomendações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/>
              <a:t>Visa e Mastercard praticam estruturas de intercâmbio semelhantes: taxas base diferenciadas por categoria/tier de cartão e ajustes para canais e parcelamentos.</a:t>
            </a:r>
          </a:p>
          <a:p>
            <a:pPr/>
            <a:r>
              <a:rPr/>
              <a:t>As taxas da Mastercard tendem a apresentar maior granularidade por segmento e níveis mais elevados para categorias premium (Black, World Legend).</a:t>
            </a:r>
          </a:p>
          <a:p>
            <a:pPr/>
            <a:r>
              <a:rPr/>
              <a:t>A Resolução BCB nº 246/2022 impõe limites rígidos para débito (0,5%) e pré‑pago (0,7%), pressionando a redução das tarifas e estimulando competitividade.</a:t>
            </a:r>
          </a:p>
          <a:p>
            <a:pPr/>
            <a:r>
              <a:rPr/>
              <a:t>O crescimento acelerado do Pix e do pré‑pago exige que emissores e adquirentes adaptem estratégias – oferecendo incentivos ao uso de meios eletrônicos de baixo custo.</a:t>
            </a:r>
          </a:p>
          <a:p>
            <a:pPr/>
            <a:r>
              <a:rPr/>
              <a:t>Recomenda-se investir em automação de coleta de dados (OCR e NLP) para atualizações periódicas e monitorar consultas públicas do BC sobre limites de crédito (previstas para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