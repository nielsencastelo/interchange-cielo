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335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Visa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Classic</c:v>
                </c:pt>
                <c:pt idx="1">
                  <c:v>Gold</c:v>
                </c:pt>
                <c:pt idx="2">
                  <c:v>Platinum</c:v>
                </c:pt>
                <c:pt idx="3">
                  <c:v>Signature</c:v>
                </c:pt>
                <c:pt idx="4">
                  <c:v>Infinite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1.17</c:v>
                </c:pt>
                <c:pt idx="1">
                  <c:v>1.34</c:v>
                </c:pt>
                <c:pt idx="2">
                  <c:v>1.73</c:v>
                </c:pt>
                <c:pt idx="3">
                  <c:v>1.79</c:v>
                </c:pt>
                <c:pt idx="4">
                  <c:v>1.83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93-48B6-AB16-C048715773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Mastercard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Classic</c:v>
                </c:pt>
                <c:pt idx="1">
                  <c:v>Gold</c:v>
                </c:pt>
                <c:pt idx="2">
                  <c:v>Platinum</c:v>
                </c:pt>
                <c:pt idx="3">
                  <c:v>Signature</c:v>
                </c:pt>
                <c:pt idx="4">
                  <c:v>Infinite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1.1000000000000001</c:v>
                </c:pt>
                <c:pt idx="1">
                  <c:v>1.2</c:v>
                </c:pt>
                <c:pt idx="2">
                  <c:v>1.65</c:v>
                </c:pt>
                <c:pt idx="3">
                  <c:v>1.8</c:v>
                </c:pt>
                <c:pt idx="4">
                  <c:v>2.2200000000000002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B93-48B6-AB16-C048715773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"/>
          <c:min val="0"/>
        </c:scaling>
        <c:delete val="0"/>
        <c:axPos val="l"/>
        <c:majorGridlines>
          <c:spPr>
            <a:ln>
              <a:solidFill>
                <a:srgbClr val="C8C8C8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pt-BR"/>
          </a:p>
        </c:txPr>
        <c:crossAx val="-2068027336"/>
        <c:crosses val="autoZero"/>
        <c:crossBetween val="between"/>
        <c:majorUnit val="0.5"/>
      </c:valAx>
    </c:plotArea>
    <c:legend>
      <c:legendPos val="tr"/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pt-BR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marest.com.br/banco-central-divulga-estatisticas-de-pagamentos-de-varejo-e-de-cartoes-no-brasil-referentes-a-2023/#:~:text=%2A%20O%20Pix%20representou%2039,%C3%BAltimo%20trimestre%20de%202023%20j%C3%A1" TargetMode="External"/><Relationship Id="rId2" Type="http://schemas.openxmlformats.org/officeDocument/2006/relationships/hyperlink" Target="https://www.demarest.com.br/banco-central-divulga-estatisticas-de-pagamentos-de-varejo-e-de-cartoes-no-brasil-referentes-a-2023/#:~:text=1,dinheiro%20em%20esp%C3%A9ci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gulacaoemnumeros-direitorio.fgv.br/post/banco-central-aprova-resolucao-que-disciplina-tarifa-de-intercambio-de-cartao-de-debito-e-pre#:~:text=interc%C3%A2mbio%20cobradas%20nas%20transa%C3%A7%C3%B5es%20realizadas,887%2F2018" TargetMode="External"/><Relationship Id="rId5" Type="http://schemas.openxmlformats.org/officeDocument/2006/relationships/hyperlink" Target="https://www.demarest.com.br/banco-central-divulga-estatisticas-de-pagamentos-de-varejo-e-de-cartoes-no-brasil-referentes-a-2023/#:~:text=6" TargetMode="External"/><Relationship Id="rId4" Type="http://schemas.openxmlformats.org/officeDocument/2006/relationships/hyperlink" Target="https://www.demarest.com.br/banco-central-divulga-estatisticas-de-pagamentos-de-varejo-e-de-cartoes-no-brasil-referentes-a-2023/#:~:text=2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Análise de Tarifas de Intercâmbio e Estatísticas de Pagamentos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Comparação entre Visa, Mastercard e dados do Banco Central (BCB), 2023</a:t>
            </a:r>
          </a:p>
        </p:txBody>
      </p:sp>
      <p:pic>
        <p:nvPicPr>
          <p:cNvPr id="4" name="Picture 3" descr="c8fcac70-45c8-4ca5-b024-6ddc1551e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7315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Visão geral do desafio e objetivo</a:t>
            </a:r>
          </a:p>
          <a:p>
            <a:r>
              <a:t>Metodologia de extração de dados</a:t>
            </a:r>
          </a:p>
          <a:p>
            <a:r>
              <a:t>Resumo das tarifas de intercâmbio (Visa &amp; Mastercard)</a:t>
            </a:r>
          </a:p>
          <a:p>
            <a:r>
              <a:t>Estatísticas do Banco Central (BCB)</a:t>
            </a:r>
          </a:p>
          <a:p>
            <a:r>
              <a:t>Comparações e insights</a:t>
            </a:r>
          </a:p>
          <a:p>
            <a:r>
              <a:t>Conclusões e recomendações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Desafio e Objetivos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764" y="1573306"/>
            <a:ext cx="8229600" cy="4525963"/>
          </a:xfrm>
        </p:spPr>
        <p:txBody>
          <a:bodyPr>
            <a:normAutofit fontScale="85000" lnSpcReduction="10000"/>
          </a:bodyPr>
          <a:lstStyle/>
          <a:p>
            <a:r>
              <a:rPr dirty="0"/>
              <a:t>O </a:t>
            </a:r>
            <a:r>
              <a:rPr dirty="0" err="1"/>
              <a:t>desafio</a:t>
            </a:r>
            <a:r>
              <a:rPr dirty="0"/>
              <a:t> </a:t>
            </a:r>
            <a:r>
              <a:rPr dirty="0" err="1"/>
              <a:t>consiste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desenvolver</a:t>
            </a:r>
            <a:r>
              <a:rPr dirty="0"/>
              <a:t> um pipeline </a:t>
            </a:r>
            <a:r>
              <a:rPr dirty="0" err="1"/>
              <a:t>automatizado</a:t>
            </a:r>
            <a:r>
              <a:rPr dirty="0"/>
              <a:t> para </a:t>
            </a:r>
            <a:r>
              <a:rPr dirty="0" err="1"/>
              <a:t>extrair</a:t>
            </a:r>
            <a:r>
              <a:rPr dirty="0"/>
              <a:t> e </a:t>
            </a:r>
            <a:r>
              <a:rPr dirty="0" err="1"/>
              <a:t>estruturar</a:t>
            </a:r>
            <a:r>
              <a:rPr dirty="0"/>
              <a:t> as </a:t>
            </a:r>
            <a:r>
              <a:rPr dirty="0" err="1"/>
              <a:t>regras</a:t>
            </a:r>
            <a:r>
              <a:rPr dirty="0"/>
              <a:t> de </a:t>
            </a:r>
            <a:r>
              <a:rPr dirty="0" err="1"/>
              <a:t>tarifas</a:t>
            </a:r>
            <a:r>
              <a:rPr dirty="0"/>
              <a:t> de </a:t>
            </a:r>
            <a:r>
              <a:rPr dirty="0" err="1"/>
              <a:t>intercâmbio</a:t>
            </a:r>
            <a:r>
              <a:rPr dirty="0"/>
              <a:t> a </a:t>
            </a:r>
            <a:r>
              <a:rPr dirty="0" err="1"/>
              <a:t>partir</a:t>
            </a:r>
            <a:r>
              <a:rPr dirty="0"/>
              <a:t> de </a:t>
            </a:r>
            <a:r>
              <a:rPr dirty="0" err="1"/>
              <a:t>manuais</a:t>
            </a:r>
            <a:r>
              <a:rPr dirty="0"/>
              <a:t> das </a:t>
            </a:r>
            <a:r>
              <a:rPr dirty="0" err="1"/>
              <a:t>bandeiras</a:t>
            </a:r>
            <a:r>
              <a:rPr dirty="0"/>
              <a:t> Visa e Mastercard, </a:t>
            </a:r>
            <a:r>
              <a:rPr dirty="0" err="1"/>
              <a:t>permitindo</a:t>
            </a:r>
            <a:r>
              <a:rPr dirty="0"/>
              <a:t> </a:t>
            </a:r>
            <a:r>
              <a:rPr dirty="0" err="1"/>
              <a:t>comparar</a:t>
            </a:r>
            <a:r>
              <a:rPr dirty="0"/>
              <a:t> </a:t>
            </a:r>
            <a:r>
              <a:rPr dirty="0" err="1"/>
              <a:t>taxas</a:t>
            </a:r>
            <a:r>
              <a:rPr dirty="0"/>
              <a:t> por 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cartão</a:t>
            </a:r>
            <a:r>
              <a:rPr dirty="0"/>
              <a:t>, </a:t>
            </a:r>
            <a:r>
              <a:rPr dirty="0" err="1"/>
              <a:t>segmento</a:t>
            </a:r>
            <a:r>
              <a:rPr dirty="0"/>
              <a:t> e </a:t>
            </a:r>
            <a:r>
              <a:rPr dirty="0" err="1"/>
              <a:t>modalidade</a:t>
            </a:r>
            <a:r>
              <a:rPr dirty="0"/>
              <a:t> de </a:t>
            </a:r>
            <a:r>
              <a:rPr dirty="0" err="1"/>
              <a:t>transação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Além</a:t>
            </a:r>
            <a:r>
              <a:rPr dirty="0"/>
              <a:t> </a:t>
            </a:r>
            <a:r>
              <a:rPr dirty="0" err="1"/>
              <a:t>disso</a:t>
            </a:r>
            <a:r>
              <a:rPr dirty="0"/>
              <a:t>, é </a:t>
            </a:r>
            <a:r>
              <a:rPr dirty="0" err="1"/>
              <a:t>necessário</a:t>
            </a:r>
            <a:r>
              <a:rPr dirty="0"/>
              <a:t> </a:t>
            </a:r>
            <a:r>
              <a:rPr dirty="0" err="1"/>
              <a:t>compilar</a:t>
            </a:r>
            <a:r>
              <a:rPr dirty="0"/>
              <a:t> </a:t>
            </a:r>
            <a:r>
              <a:rPr dirty="0" err="1"/>
              <a:t>estatísticas</a:t>
            </a:r>
            <a:r>
              <a:rPr dirty="0"/>
              <a:t> do Banco Central (BCB)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pagamentos</a:t>
            </a:r>
            <a:r>
              <a:rPr dirty="0"/>
              <a:t> de </a:t>
            </a:r>
            <a:r>
              <a:rPr dirty="0" err="1"/>
              <a:t>varejo</a:t>
            </a:r>
            <a:r>
              <a:rPr dirty="0"/>
              <a:t> no </a:t>
            </a:r>
            <a:r>
              <a:rPr dirty="0" err="1"/>
              <a:t>Brasil</a:t>
            </a:r>
            <a:r>
              <a:rPr dirty="0"/>
              <a:t> para </a:t>
            </a:r>
            <a:r>
              <a:rPr dirty="0" err="1"/>
              <a:t>contextualizar</a:t>
            </a:r>
            <a:r>
              <a:rPr dirty="0"/>
              <a:t> o mercado e </a:t>
            </a:r>
            <a:r>
              <a:rPr dirty="0" err="1"/>
              <a:t>identificar</a:t>
            </a:r>
            <a:r>
              <a:rPr dirty="0"/>
              <a:t> </a:t>
            </a:r>
            <a:r>
              <a:rPr dirty="0" err="1"/>
              <a:t>tendências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instrumentos</a:t>
            </a:r>
            <a:r>
              <a:rPr dirty="0"/>
              <a:t> de </a:t>
            </a:r>
            <a:r>
              <a:rPr dirty="0" err="1"/>
              <a:t>pagamento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Metodologia</a:t>
            </a:r>
            <a:r>
              <a:rPr dirty="0"/>
              <a:t> de </a:t>
            </a:r>
            <a:r>
              <a:rPr dirty="0" err="1"/>
              <a:t>Extração</a:t>
            </a:r>
            <a:r>
              <a:rPr dirty="0"/>
              <a:t> de Dados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41656"/>
            <a:ext cx="8229600" cy="4525963"/>
          </a:xfrm>
        </p:spPr>
        <p:txBody>
          <a:bodyPr>
            <a:normAutofit fontScale="85000" lnSpcReduction="20000"/>
          </a:bodyPr>
          <a:lstStyle/>
          <a:p>
            <a:endParaRPr dirty="0"/>
          </a:p>
          <a:p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documentos</a:t>
            </a:r>
            <a:r>
              <a:rPr dirty="0"/>
              <a:t> </a:t>
            </a:r>
            <a:r>
              <a:rPr dirty="0" err="1"/>
              <a:t>oficiais</a:t>
            </a:r>
            <a:r>
              <a:rPr dirty="0"/>
              <a:t> e </a:t>
            </a:r>
            <a:r>
              <a:rPr dirty="0" err="1"/>
              <a:t>tabelas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páginas</a:t>
            </a:r>
            <a:r>
              <a:rPr dirty="0"/>
              <a:t> das </a:t>
            </a:r>
            <a:r>
              <a:rPr dirty="0" err="1"/>
              <a:t>bandeiras</a:t>
            </a:r>
            <a:r>
              <a:rPr dirty="0"/>
              <a:t> (Visa e Mastercard).</a:t>
            </a:r>
          </a:p>
          <a:p>
            <a:r>
              <a:rPr dirty="0" err="1"/>
              <a:t>Extração</a:t>
            </a:r>
            <a:r>
              <a:rPr dirty="0"/>
              <a:t> manual e via OCR dos dados </a:t>
            </a:r>
            <a:r>
              <a:rPr dirty="0" err="1"/>
              <a:t>em</a:t>
            </a:r>
            <a:r>
              <a:rPr dirty="0"/>
              <a:t> PDFs e imagens (</a:t>
            </a:r>
            <a:r>
              <a:rPr dirty="0" err="1"/>
              <a:t>tabelas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PNG no site da Mastercard).</a:t>
            </a:r>
          </a:p>
          <a:p>
            <a:r>
              <a:rPr dirty="0" err="1"/>
              <a:t>Estruturação</a:t>
            </a:r>
            <a:r>
              <a:rPr dirty="0"/>
              <a:t> dos dados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planilhas</a:t>
            </a:r>
            <a:r>
              <a:rPr dirty="0"/>
              <a:t>: </a:t>
            </a:r>
            <a:r>
              <a:rPr dirty="0" err="1"/>
              <a:t>identificação</a:t>
            </a:r>
            <a:r>
              <a:rPr dirty="0"/>
              <a:t> de </a:t>
            </a:r>
            <a:r>
              <a:rPr dirty="0" err="1"/>
              <a:t>categorias</a:t>
            </a:r>
            <a:r>
              <a:rPr dirty="0"/>
              <a:t> (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cartão</a:t>
            </a:r>
            <a:r>
              <a:rPr dirty="0"/>
              <a:t>, </a:t>
            </a:r>
            <a:r>
              <a:rPr dirty="0" err="1"/>
              <a:t>segmento</a:t>
            </a:r>
            <a:r>
              <a:rPr dirty="0"/>
              <a:t>, </a:t>
            </a:r>
            <a:r>
              <a:rPr dirty="0" err="1"/>
              <a:t>ajustes</a:t>
            </a:r>
            <a:r>
              <a:rPr dirty="0"/>
              <a:t>).</a:t>
            </a:r>
          </a:p>
          <a:p>
            <a:r>
              <a:rPr dirty="0" err="1"/>
              <a:t>Incorporação</a:t>
            </a:r>
            <a:r>
              <a:rPr dirty="0"/>
              <a:t> de </a:t>
            </a:r>
            <a:r>
              <a:rPr dirty="0" err="1"/>
              <a:t>estatísticas</a:t>
            </a:r>
            <a:r>
              <a:rPr dirty="0"/>
              <a:t> do Banco Central </a:t>
            </a:r>
            <a:r>
              <a:rPr dirty="0" err="1"/>
              <a:t>sobre</a:t>
            </a:r>
            <a:r>
              <a:rPr dirty="0"/>
              <a:t> volume de </a:t>
            </a:r>
            <a:r>
              <a:rPr dirty="0" err="1"/>
              <a:t>transações</a:t>
            </a:r>
            <a:r>
              <a:rPr dirty="0"/>
              <a:t>, </a:t>
            </a:r>
            <a:r>
              <a:rPr dirty="0" err="1"/>
              <a:t>participação</a:t>
            </a:r>
            <a:r>
              <a:rPr dirty="0"/>
              <a:t> de mercado e </a:t>
            </a:r>
            <a:r>
              <a:rPr dirty="0" err="1"/>
              <a:t>limites</a:t>
            </a:r>
            <a:r>
              <a:rPr dirty="0"/>
              <a:t> </a:t>
            </a:r>
            <a:r>
              <a:rPr dirty="0" err="1"/>
              <a:t>regulatórios</a:t>
            </a:r>
            <a:r>
              <a:rPr dirty="0"/>
              <a:t> de </a:t>
            </a:r>
            <a:r>
              <a:rPr dirty="0" err="1"/>
              <a:t>tarifa</a:t>
            </a:r>
            <a:r>
              <a:rPr dirty="0"/>
              <a:t> de </a:t>
            </a:r>
            <a:r>
              <a:rPr dirty="0" err="1"/>
              <a:t>intercâmbio</a:t>
            </a:r>
            <a:r>
              <a:rPr dirty="0"/>
              <a:t>.</a:t>
            </a:r>
          </a:p>
          <a:p>
            <a:r>
              <a:rPr dirty="0" err="1"/>
              <a:t>Organização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 sheets (Visa, Mastercard, BCB) para </a:t>
            </a:r>
            <a:r>
              <a:rPr dirty="0" err="1"/>
              <a:t>facilitar</a:t>
            </a:r>
            <a:r>
              <a:rPr dirty="0"/>
              <a:t> </a:t>
            </a:r>
            <a:r>
              <a:rPr dirty="0" err="1"/>
              <a:t>análises</a:t>
            </a:r>
            <a:r>
              <a:rPr dirty="0"/>
              <a:t> </a:t>
            </a:r>
            <a:r>
              <a:rPr dirty="0" err="1"/>
              <a:t>comparativas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Tarifas de Intercâmbio – Visa (Brasil)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 fontScale="70000" lnSpcReduction="20000"/>
          </a:bodyPr>
          <a:lstStyle/>
          <a:p>
            <a:endParaRPr dirty="0"/>
          </a:p>
          <a:p>
            <a:r>
              <a:rPr dirty="0" err="1"/>
              <a:t>Crédito</a:t>
            </a:r>
            <a:r>
              <a:rPr dirty="0"/>
              <a:t> (</a:t>
            </a:r>
            <a:r>
              <a:rPr dirty="0" err="1"/>
              <a:t>consumidor</a:t>
            </a:r>
            <a:r>
              <a:rPr dirty="0"/>
              <a:t>): </a:t>
            </a:r>
            <a:r>
              <a:rPr dirty="0" err="1"/>
              <a:t>taxas</a:t>
            </a:r>
            <a:r>
              <a:rPr dirty="0"/>
              <a:t> base </a:t>
            </a:r>
            <a:r>
              <a:rPr dirty="0" err="1"/>
              <a:t>variam</a:t>
            </a:r>
            <a:r>
              <a:rPr dirty="0"/>
              <a:t> de 1,17% (Classic) a 1,83% (Infinite) com </a:t>
            </a:r>
            <a:r>
              <a:rPr dirty="0" err="1"/>
              <a:t>ajustes</a:t>
            </a:r>
            <a:r>
              <a:rPr dirty="0"/>
              <a:t> para </a:t>
            </a:r>
            <a:r>
              <a:rPr dirty="0" err="1"/>
              <a:t>pagamentos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contato</a:t>
            </a:r>
            <a:r>
              <a:rPr dirty="0"/>
              <a:t> (+0,00%) e </a:t>
            </a:r>
            <a:r>
              <a:rPr dirty="0" err="1"/>
              <a:t>compras</a:t>
            </a:r>
            <a:r>
              <a:rPr dirty="0"/>
              <a:t> online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presenciais</a:t>
            </a:r>
            <a:r>
              <a:rPr dirty="0"/>
              <a:t> (+0,20%). </a:t>
            </a:r>
            <a:r>
              <a:rPr dirty="0" err="1"/>
              <a:t>Parcelamentos</a:t>
            </a:r>
            <a:r>
              <a:rPr dirty="0"/>
              <a:t> de 2–6 </a:t>
            </a:r>
            <a:r>
              <a:rPr dirty="0" err="1"/>
              <a:t>parcelas</a:t>
            </a:r>
            <a:r>
              <a:rPr dirty="0"/>
              <a:t> </a:t>
            </a:r>
            <a:r>
              <a:rPr dirty="0" err="1"/>
              <a:t>adicionam</a:t>
            </a:r>
            <a:r>
              <a:rPr dirty="0"/>
              <a:t> +0,65 p.p. e 7–21 </a:t>
            </a:r>
            <a:r>
              <a:rPr dirty="0" err="1"/>
              <a:t>parcelas</a:t>
            </a:r>
            <a:r>
              <a:rPr dirty="0"/>
              <a:t> +0,90 p.p. por </a:t>
            </a:r>
            <a:r>
              <a:rPr dirty="0" err="1"/>
              <a:t>transação</a:t>
            </a:r>
            <a:r>
              <a:rPr dirty="0"/>
              <a:t>.</a:t>
            </a:r>
          </a:p>
          <a:p>
            <a:r>
              <a:rPr dirty="0" err="1"/>
              <a:t>Crédito</a:t>
            </a:r>
            <a:r>
              <a:rPr dirty="0"/>
              <a:t> (</a:t>
            </a:r>
            <a:r>
              <a:rPr dirty="0" err="1"/>
              <a:t>comercial</a:t>
            </a:r>
            <a:r>
              <a:rPr dirty="0"/>
              <a:t>): </a:t>
            </a:r>
            <a:r>
              <a:rPr dirty="0" err="1"/>
              <a:t>informações</a:t>
            </a:r>
            <a:r>
              <a:rPr dirty="0"/>
              <a:t> </a:t>
            </a:r>
            <a:r>
              <a:rPr dirty="0" err="1"/>
              <a:t>públicas</a:t>
            </a:r>
            <a:r>
              <a:rPr dirty="0"/>
              <a:t> </a:t>
            </a:r>
            <a:r>
              <a:rPr dirty="0" err="1"/>
              <a:t>limitadas</a:t>
            </a:r>
            <a:r>
              <a:rPr dirty="0"/>
              <a:t>; base </a:t>
            </a:r>
            <a:r>
              <a:rPr dirty="0" err="1"/>
              <a:t>aproximada</a:t>
            </a:r>
            <a:r>
              <a:rPr dirty="0"/>
              <a:t> de 1,65% a 1,80% </a:t>
            </a:r>
            <a:r>
              <a:rPr dirty="0" err="1"/>
              <a:t>dependendo</a:t>
            </a:r>
            <a:r>
              <a:rPr dirty="0"/>
              <a:t> do </a:t>
            </a:r>
            <a:r>
              <a:rPr dirty="0" err="1"/>
              <a:t>segmento</a:t>
            </a:r>
            <a:r>
              <a:rPr dirty="0"/>
              <a:t>.</a:t>
            </a:r>
          </a:p>
          <a:p>
            <a:r>
              <a:rPr dirty="0" err="1"/>
              <a:t>Débito</a:t>
            </a:r>
            <a:r>
              <a:rPr dirty="0"/>
              <a:t>: taxa </a:t>
            </a:r>
            <a:r>
              <a:rPr dirty="0" err="1"/>
              <a:t>fixa</a:t>
            </a:r>
            <a:r>
              <a:rPr dirty="0"/>
              <a:t> de 0,50%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</a:t>
            </a:r>
            <a:r>
              <a:rPr dirty="0" err="1"/>
              <a:t>transações</a:t>
            </a:r>
            <a:r>
              <a:rPr dirty="0"/>
              <a:t>, </a:t>
            </a:r>
            <a:r>
              <a:rPr dirty="0" err="1"/>
              <a:t>conforme</a:t>
            </a:r>
            <a:r>
              <a:rPr dirty="0"/>
              <a:t> </a:t>
            </a:r>
            <a:r>
              <a:rPr dirty="0" err="1"/>
              <a:t>regulamentação</a:t>
            </a:r>
            <a:r>
              <a:rPr dirty="0"/>
              <a:t> do BCB.</a:t>
            </a:r>
          </a:p>
          <a:p>
            <a:r>
              <a:rPr dirty="0" err="1"/>
              <a:t>Pré‑pago</a:t>
            </a:r>
            <a:r>
              <a:rPr dirty="0"/>
              <a:t>: taxa </a:t>
            </a:r>
            <a:r>
              <a:rPr dirty="0" err="1"/>
              <a:t>fixa</a:t>
            </a:r>
            <a:r>
              <a:rPr dirty="0"/>
              <a:t> de 0,70% por </a:t>
            </a:r>
            <a:r>
              <a:rPr dirty="0" err="1"/>
              <a:t>transação</a:t>
            </a:r>
            <a:r>
              <a:rPr dirty="0"/>
              <a:t> (</a:t>
            </a:r>
            <a:r>
              <a:rPr dirty="0" err="1"/>
              <a:t>consumidor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comercial</a:t>
            </a:r>
            <a:r>
              <a:rPr dirty="0"/>
              <a:t>).</a:t>
            </a:r>
          </a:p>
          <a:p>
            <a:r>
              <a:rPr dirty="0" err="1"/>
              <a:t>Ajustes</a:t>
            </a:r>
            <a:r>
              <a:rPr dirty="0"/>
              <a:t> por </a:t>
            </a:r>
            <a:r>
              <a:rPr dirty="0" err="1"/>
              <a:t>segmento</a:t>
            </a:r>
            <a:r>
              <a:rPr dirty="0"/>
              <a:t>: </a:t>
            </a:r>
            <a:r>
              <a:rPr dirty="0" err="1"/>
              <a:t>alguns</a:t>
            </a:r>
            <a:r>
              <a:rPr dirty="0"/>
              <a:t> </a:t>
            </a:r>
            <a:r>
              <a:rPr dirty="0" err="1"/>
              <a:t>segmentos</a:t>
            </a:r>
            <a:r>
              <a:rPr dirty="0"/>
              <a:t> (</a:t>
            </a:r>
            <a:r>
              <a:rPr dirty="0" err="1"/>
              <a:t>supermercados</a:t>
            </a:r>
            <a:r>
              <a:rPr dirty="0"/>
              <a:t>, </a:t>
            </a:r>
            <a:r>
              <a:rPr dirty="0" err="1"/>
              <a:t>hotéis</a:t>
            </a:r>
            <a:r>
              <a:rPr dirty="0"/>
              <a:t>, </a:t>
            </a:r>
            <a:r>
              <a:rPr dirty="0" err="1"/>
              <a:t>viagens</a:t>
            </a:r>
            <a:r>
              <a:rPr dirty="0"/>
              <a:t>, etc.) </a:t>
            </a:r>
            <a:r>
              <a:rPr dirty="0" err="1"/>
              <a:t>podem</a:t>
            </a:r>
            <a:r>
              <a:rPr dirty="0"/>
              <a:t> </a:t>
            </a:r>
            <a:r>
              <a:rPr dirty="0" err="1"/>
              <a:t>ter</a:t>
            </a:r>
            <a:r>
              <a:rPr dirty="0"/>
              <a:t> </a:t>
            </a:r>
            <a:r>
              <a:rPr dirty="0" err="1"/>
              <a:t>reduções</a:t>
            </a:r>
            <a:r>
              <a:rPr dirty="0"/>
              <a:t>, mas as </a:t>
            </a:r>
            <a:r>
              <a:rPr dirty="0" err="1"/>
              <a:t>diretrizes</a:t>
            </a:r>
            <a:r>
              <a:rPr dirty="0"/>
              <a:t> </a:t>
            </a:r>
            <a:r>
              <a:rPr dirty="0" err="1"/>
              <a:t>públicas</a:t>
            </a:r>
            <a:r>
              <a:rPr dirty="0"/>
              <a:t> </a:t>
            </a:r>
            <a:r>
              <a:rPr dirty="0" err="1"/>
              <a:t>indicam</a:t>
            </a:r>
            <a:r>
              <a:rPr dirty="0"/>
              <a:t> </a:t>
            </a:r>
            <a:r>
              <a:rPr dirty="0" err="1"/>
              <a:t>variações</a:t>
            </a:r>
            <a:r>
              <a:rPr dirty="0"/>
              <a:t> </a:t>
            </a:r>
            <a:r>
              <a:rPr dirty="0" err="1"/>
              <a:t>menores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Tarifas de Intercâmbio – Mastercard (Crédito Consumidor)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Taxas base por categoria: Standard 1,10%, Gold 1,20%, Platinum 1,65%, Black 1,80% e World Legend 2,22%.</a:t>
            </a:r>
          </a:p>
          <a:p>
            <a:r>
              <a:t>Segmentos: Supermercados (~0,95–1,40%), Despesas Gerais (0,50–0,80%), Outros (0,85–0,90%), Serviços governamentais (~1,20%), Transporte (0,65%), Viagens &amp; Entretenimento (0,85–1,70%), Atacadistas (0,65–0,85%), Loteria (0,50%).</a:t>
            </a:r>
          </a:p>
          <a:p>
            <a:r>
              <a:t>Ajustes: pagamentos sem contato +0,05 p.p.; compras online ou não presenciais +0,20 p.p. (supermercados +0,10 p.p.).</a:t>
            </a:r>
          </a:p>
          <a:p>
            <a:r>
              <a:t>Parcelamentos: 2–6 parcelas +0,65 p.p.; 7–21 parcelas +0,90 p.p. com teto de R$ 0,90 por transação.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Mastercard – Comercial, Alto Valor e Outros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 fontScale="70000" lnSpcReduction="20000"/>
          </a:bodyPr>
          <a:lstStyle/>
          <a:p>
            <a:endParaRPr dirty="0"/>
          </a:p>
          <a:p>
            <a:r>
              <a:rPr dirty="0" err="1"/>
              <a:t>Crédito</a:t>
            </a:r>
            <a:r>
              <a:rPr dirty="0"/>
              <a:t> </a:t>
            </a:r>
            <a:r>
              <a:rPr dirty="0" err="1"/>
              <a:t>Comercial</a:t>
            </a:r>
            <a:r>
              <a:rPr dirty="0"/>
              <a:t>: Business (1,65%), Affluent (1,80%), CTA (1,80%), P‑Card (0,75%), </a:t>
            </a:r>
            <a:r>
              <a:rPr dirty="0" err="1"/>
              <a:t>Agro</a:t>
            </a:r>
            <a:r>
              <a:rPr dirty="0"/>
              <a:t> (1,65%). </a:t>
            </a:r>
            <a:r>
              <a:rPr dirty="0" err="1"/>
              <a:t>Segmentos</a:t>
            </a:r>
            <a:r>
              <a:rPr dirty="0"/>
              <a:t> </a:t>
            </a:r>
            <a:r>
              <a:rPr dirty="0" err="1"/>
              <a:t>variam</a:t>
            </a:r>
            <a:r>
              <a:rPr dirty="0"/>
              <a:t>, com </a:t>
            </a:r>
            <a:r>
              <a:rPr dirty="0" err="1"/>
              <a:t>valores</a:t>
            </a:r>
            <a:r>
              <a:rPr dirty="0"/>
              <a:t> entre 1,30% e 1,95%.</a:t>
            </a:r>
          </a:p>
          <a:p>
            <a:r>
              <a:rPr dirty="0" err="1"/>
              <a:t>Transações</a:t>
            </a:r>
            <a:r>
              <a:rPr dirty="0"/>
              <a:t> de alto valor (</a:t>
            </a:r>
            <a:r>
              <a:rPr dirty="0" err="1"/>
              <a:t>consumidor</a:t>
            </a:r>
            <a:r>
              <a:rPr dirty="0"/>
              <a:t> e </a:t>
            </a:r>
            <a:r>
              <a:rPr dirty="0" err="1"/>
              <a:t>comercial</a:t>
            </a:r>
            <a:r>
              <a:rPr dirty="0"/>
              <a:t>): </a:t>
            </a:r>
            <a:r>
              <a:rPr dirty="0" err="1"/>
              <a:t>combinam</a:t>
            </a:r>
            <a:r>
              <a:rPr dirty="0"/>
              <a:t> taxa </a:t>
            </a:r>
            <a:r>
              <a:rPr dirty="0" err="1"/>
              <a:t>fixa</a:t>
            </a:r>
            <a:r>
              <a:rPr dirty="0"/>
              <a:t> (R$55 a R$440) + </a:t>
            </a:r>
            <a:r>
              <a:rPr dirty="0" err="1"/>
              <a:t>alíquota</a:t>
            </a:r>
            <a:r>
              <a:rPr dirty="0"/>
              <a:t> percentual (~0,17–0,30%). </a:t>
            </a:r>
            <a:r>
              <a:rPr dirty="0" err="1"/>
              <a:t>Mínimo</a:t>
            </a:r>
            <a:r>
              <a:rPr dirty="0"/>
              <a:t> de R$ 20 mil à vista </a:t>
            </a:r>
            <a:r>
              <a:rPr dirty="0" err="1"/>
              <a:t>ou</a:t>
            </a:r>
            <a:r>
              <a:rPr dirty="0"/>
              <a:t> R$ 10 mil por </a:t>
            </a:r>
            <a:r>
              <a:rPr dirty="0" err="1"/>
              <a:t>parcela</a:t>
            </a:r>
            <a:r>
              <a:rPr dirty="0"/>
              <a:t> para </a:t>
            </a:r>
            <a:r>
              <a:rPr dirty="0" err="1"/>
              <a:t>parcelamentos</a:t>
            </a:r>
            <a:r>
              <a:rPr dirty="0"/>
              <a:t>.</a:t>
            </a:r>
          </a:p>
          <a:p>
            <a:r>
              <a:rPr dirty="0" err="1"/>
              <a:t>Pré‑pago</a:t>
            </a:r>
            <a:r>
              <a:rPr dirty="0"/>
              <a:t> (com e </a:t>
            </a:r>
            <a:r>
              <a:rPr dirty="0" err="1"/>
              <a:t>sem</a:t>
            </a:r>
            <a:r>
              <a:rPr dirty="0"/>
              <a:t> PIN): taxa base de 0,70% para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segmentos</a:t>
            </a:r>
            <a:r>
              <a:rPr dirty="0"/>
              <a:t>; </a:t>
            </a:r>
            <a:r>
              <a:rPr dirty="0" err="1"/>
              <a:t>alguns</a:t>
            </a:r>
            <a:r>
              <a:rPr dirty="0"/>
              <a:t> </a:t>
            </a:r>
            <a:r>
              <a:rPr dirty="0" err="1"/>
              <a:t>segmentos</a:t>
            </a:r>
            <a:r>
              <a:rPr dirty="0"/>
              <a:t> </a:t>
            </a:r>
            <a:r>
              <a:rPr dirty="0" err="1"/>
              <a:t>recebem</a:t>
            </a:r>
            <a:r>
              <a:rPr dirty="0"/>
              <a:t> 0,30% (</a:t>
            </a:r>
            <a:r>
              <a:rPr dirty="0" err="1"/>
              <a:t>despesas</a:t>
            </a:r>
            <a:r>
              <a:rPr dirty="0"/>
              <a:t> </a:t>
            </a:r>
            <a:r>
              <a:rPr dirty="0" err="1"/>
              <a:t>gerais</a:t>
            </a:r>
            <a:r>
              <a:rPr dirty="0"/>
              <a:t>, </a:t>
            </a:r>
            <a:r>
              <a:rPr dirty="0" err="1"/>
              <a:t>governo</a:t>
            </a:r>
            <a:r>
              <a:rPr dirty="0"/>
              <a:t>, </a:t>
            </a:r>
            <a:r>
              <a:rPr dirty="0" err="1"/>
              <a:t>transporte</a:t>
            </a:r>
            <a:r>
              <a:rPr dirty="0"/>
              <a:t>, </a:t>
            </a:r>
            <a:r>
              <a:rPr dirty="0" err="1"/>
              <a:t>loterias</a:t>
            </a:r>
            <a:r>
              <a:rPr dirty="0"/>
              <a:t> e micro </a:t>
            </a:r>
            <a:r>
              <a:rPr dirty="0" err="1"/>
              <a:t>comércios</a:t>
            </a:r>
            <a:r>
              <a:rPr dirty="0"/>
              <a:t>). </a:t>
            </a:r>
            <a:r>
              <a:rPr dirty="0" err="1"/>
              <a:t>Ajustes</a:t>
            </a:r>
            <a:r>
              <a:rPr dirty="0"/>
              <a:t>: </a:t>
            </a:r>
            <a:r>
              <a:rPr dirty="0" err="1"/>
              <a:t>compras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presenciais</a:t>
            </a:r>
            <a:r>
              <a:rPr dirty="0"/>
              <a:t> –0,40 p.p.; </a:t>
            </a:r>
            <a:r>
              <a:rPr dirty="0" err="1"/>
              <a:t>teto</a:t>
            </a:r>
            <a:r>
              <a:rPr dirty="0"/>
              <a:t> de R$0,30 por </a:t>
            </a:r>
            <a:r>
              <a:rPr dirty="0" err="1"/>
              <a:t>transação</a:t>
            </a:r>
            <a:r>
              <a:rPr dirty="0"/>
              <a:t>.</a:t>
            </a:r>
          </a:p>
          <a:p>
            <a:r>
              <a:rPr dirty="0" err="1"/>
              <a:t>Débito</a:t>
            </a:r>
            <a:r>
              <a:rPr dirty="0"/>
              <a:t> (Maestro): taxa base de 0,50%; </a:t>
            </a:r>
            <a:r>
              <a:rPr dirty="0" err="1"/>
              <a:t>supermercados</a:t>
            </a:r>
            <a:r>
              <a:rPr dirty="0"/>
              <a:t> 0,45%; </a:t>
            </a:r>
            <a:r>
              <a:rPr dirty="0" err="1"/>
              <a:t>despesas</a:t>
            </a:r>
            <a:r>
              <a:rPr dirty="0"/>
              <a:t> </a:t>
            </a:r>
            <a:r>
              <a:rPr dirty="0" err="1"/>
              <a:t>gerais</a:t>
            </a:r>
            <a:r>
              <a:rPr dirty="0"/>
              <a:t> 0,25%; </a:t>
            </a:r>
            <a:r>
              <a:rPr dirty="0" err="1"/>
              <a:t>atacadistas</a:t>
            </a:r>
            <a:r>
              <a:rPr dirty="0"/>
              <a:t> 0,35%; outros 0,50%; </a:t>
            </a:r>
            <a:r>
              <a:rPr dirty="0" err="1"/>
              <a:t>ajustes</a:t>
            </a:r>
            <a:r>
              <a:rPr dirty="0"/>
              <a:t> para </a:t>
            </a:r>
            <a:r>
              <a:rPr dirty="0" err="1"/>
              <a:t>transações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presenciais</a:t>
            </a:r>
            <a:r>
              <a:rPr dirty="0"/>
              <a:t> </a:t>
            </a:r>
            <a:r>
              <a:rPr dirty="0" err="1"/>
              <a:t>variam</a:t>
            </a:r>
            <a:r>
              <a:rPr dirty="0"/>
              <a:t> de –0,25 p.p. a 0.00 p.p.; </a:t>
            </a:r>
            <a:r>
              <a:rPr dirty="0" err="1"/>
              <a:t>teto</a:t>
            </a:r>
            <a:r>
              <a:rPr dirty="0"/>
              <a:t> de R$0,30 por </a:t>
            </a:r>
            <a:r>
              <a:rPr dirty="0" err="1"/>
              <a:t>transação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Estatísticas de Pagamentos – Banco Central (BCB) 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9189"/>
            <a:ext cx="8229600" cy="4525963"/>
          </a:xfrm>
        </p:spPr>
        <p:txBody>
          <a:bodyPr>
            <a:normAutofit fontScale="70000" lnSpcReduction="20000"/>
          </a:bodyPr>
          <a:lstStyle/>
          <a:p>
            <a:endParaRPr dirty="0"/>
          </a:p>
          <a:p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realizadas</a:t>
            </a:r>
            <a:r>
              <a:rPr dirty="0"/>
              <a:t> 108,7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transações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monetárias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2023, </a:t>
            </a:r>
            <a:r>
              <a:rPr dirty="0" err="1"/>
              <a:t>movimentando</a:t>
            </a:r>
            <a:r>
              <a:rPr dirty="0"/>
              <a:t> R$ 99,7 </a:t>
            </a:r>
            <a:r>
              <a:rPr dirty="0" err="1"/>
              <a:t>trilhões</a:t>
            </a:r>
            <a:r>
              <a:rPr dirty="0"/>
              <a:t> (≈9,1× o PIB). </a:t>
            </a:r>
            <a:r>
              <a:rPr dirty="0" err="1"/>
              <a:t>Houve</a:t>
            </a:r>
            <a:r>
              <a:rPr dirty="0"/>
              <a:t> </a:t>
            </a:r>
            <a:r>
              <a:rPr dirty="0" err="1"/>
              <a:t>crescimento</a:t>
            </a:r>
            <a:r>
              <a:rPr dirty="0"/>
              <a:t> de 31%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quantidade</a:t>
            </a:r>
            <a:r>
              <a:rPr dirty="0"/>
              <a:t> de </a:t>
            </a:r>
            <a:r>
              <a:rPr dirty="0" err="1"/>
              <a:t>transações</a:t>
            </a:r>
            <a:r>
              <a:rPr dirty="0"/>
              <a:t> e 9% no volume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relação</a:t>
            </a:r>
            <a:r>
              <a:rPr dirty="0"/>
              <a:t> a 2022</a:t>
            </a:r>
            <a:r>
              <a:rPr u="sng" dirty="0">
                <a:solidFill>
                  <a:schemeClr val="accent6"/>
                </a:solidFill>
                <a:hlinkClick r:id="rId2"/>
              </a:rPr>
              <a:t>(www.demarest.com.br)</a:t>
            </a:r>
            <a:r>
              <a:rPr dirty="0"/>
              <a:t>.</a:t>
            </a:r>
          </a:p>
          <a:p>
            <a:r>
              <a:rPr dirty="0"/>
              <a:t>O Pix </a:t>
            </a:r>
            <a:r>
              <a:rPr dirty="0" err="1"/>
              <a:t>representou</a:t>
            </a:r>
            <a:r>
              <a:rPr dirty="0"/>
              <a:t> 39% das </a:t>
            </a:r>
            <a:r>
              <a:rPr dirty="0" err="1"/>
              <a:t>transações</a:t>
            </a:r>
            <a:r>
              <a:rPr dirty="0"/>
              <a:t> 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cartões</a:t>
            </a:r>
            <a:r>
              <a:rPr dirty="0"/>
              <a:t> 41%</a:t>
            </a:r>
            <a:r>
              <a:rPr u="sng" dirty="0">
                <a:solidFill>
                  <a:schemeClr val="accent6"/>
                </a:solidFill>
                <a:hlinkClick r:id="rId3"/>
              </a:rPr>
              <a:t>(www.demarest.com.br)</a:t>
            </a:r>
            <a:r>
              <a:rPr dirty="0"/>
              <a:t>. O </a:t>
            </a:r>
            <a:r>
              <a:rPr dirty="0" err="1"/>
              <a:t>pré‑pago</a:t>
            </a:r>
            <a:r>
              <a:rPr dirty="0"/>
              <a:t> </a:t>
            </a:r>
            <a:r>
              <a:rPr dirty="0" err="1"/>
              <a:t>cresceu</a:t>
            </a:r>
            <a:r>
              <a:rPr dirty="0"/>
              <a:t> 36% </a:t>
            </a:r>
            <a:r>
              <a:rPr dirty="0" err="1"/>
              <a:t>em</a:t>
            </a:r>
            <a:r>
              <a:rPr dirty="0"/>
              <a:t> 2023, </a:t>
            </a:r>
            <a:r>
              <a:rPr dirty="0" err="1"/>
              <a:t>respondendo</a:t>
            </a:r>
            <a:r>
              <a:rPr dirty="0"/>
              <a:t> por 23% das </a:t>
            </a:r>
            <a:r>
              <a:rPr dirty="0" err="1"/>
              <a:t>transações</a:t>
            </a:r>
            <a:r>
              <a:rPr dirty="0"/>
              <a:t> com </a:t>
            </a:r>
            <a:r>
              <a:rPr dirty="0" err="1"/>
              <a:t>cartões</a:t>
            </a:r>
            <a:r>
              <a:rPr u="sng" dirty="0">
                <a:solidFill>
                  <a:schemeClr val="accent6"/>
                </a:solidFill>
                <a:hlinkClick r:id="rId4"/>
              </a:rPr>
              <a:t>(www.demarest.com.br)</a:t>
            </a:r>
            <a:r>
              <a:rPr u="sng" dirty="0">
                <a:solidFill>
                  <a:schemeClr val="accent6"/>
                </a:solidFill>
                <a:hlinkClick r:id="rId5"/>
              </a:rPr>
              <a:t>(www.demarest.com.br)</a:t>
            </a:r>
            <a:r>
              <a:rPr dirty="0"/>
              <a:t>.</a:t>
            </a:r>
          </a:p>
          <a:p>
            <a:r>
              <a:rPr dirty="0" err="1"/>
              <a:t>Valores</a:t>
            </a:r>
            <a:r>
              <a:rPr dirty="0"/>
              <a:t> </a:t>
            </a:r>
            <a:r>
              <a:rPr dirty="0" err="1"/>
              <a:t>médios</a:t>
            </a:r>
            <a:r>
              <a:rPr dirty="0"/>
              <a:t> por </a:t>
            </a:r>
            <a:r>
              <a:rPr dirty="0" err="1"/>
              <a:t>transação</a:t>
            </a:r>
            <a:r>
              <a:rPr dirty="0"/>
              <a:t>: </a:t>
            </a:r>
            <a:r>
              <a:rPr dirty="0" err="1"/>
              <a:t>crédito</a:t>
            </a:r>
            <a:r>
              <a:rPr dirty="0"/>
              <a:t> R$128, </a:t>
            </a:r>
            <a:r>
              <a:rPr dirty="0" err="1"/>
              <a:t>débito</a:t>
            </a:r>
            <a:r>
              <a:rPr dirty="0"/>
              <a:t> R$61 e </a:t>
            </a:r>
            <a:r>
              <a:rPr dirty="0" err="1"/>
              <a:t>pré‑pago</a:t>
            </a:r>
            <a:r>
              <a:rPr dirty="0"/>
              <a:t> R$26</a:t>
            </a:r>
            <a:r>
              <a:rPr u="sng" dirty="0">
                <a:solidFill>
                  <a:schemeClr val="accent6"/>
                </a:solidFill>
                <a:hlinkClick r:id="rId5"/>
              </a:rPr>
              <a:t>(www.demarest.com.br)</a:t>
            </a:r>
            <a:r>
              <a:rPr dirty="0"/>
              <a:t>.</a:t>
            </a:r>
          </a:p>
          <a:p>
            <a:r>
              <a:rPr dirty="0"/>
              <a:t>As </a:t>
            </a:r>
            <a:r>
              <a:rPr dirty="0" err="1"/>
              <a:t>tarifas</a:t>
            </a:r>
            <a:r>
              <a:rPr dirty="0"/>
              <a:t> de </a:t>
            </a:r>
            <a:r>
              <a:rPr dirty="0" err="1"/>
              <a:t>intercâmbio</a:t>
            </a:r>
            <a:r>
              <a:rPr dirty="0"/>
              <a:t> de </a:t>
            </a:r>
            <a:r>
              <a:rPr dirty="0" err="1"/>
              <a:t>crédito</a:t>
            </a:r>
            <a:r>
              <a:rPr dirty="0"/>
              <a:t> </a:t>
            </a:r>
            <a:r>
              <a:rPr dirty="0" err="1"/>
              <a:t>mantiveram</a:t>
            </a:r>
            <a:r>
              <a:rPr dirty="0"/>
              <a:t>‑se </a:t>
            </a:r>
            <a:r>
              <a:rPr dirty="0" err="1"/>
              <a:t>estáveis</a:t>
            </a:r>
            <a:r>
              <a:rPr dirty="0"/>
              <a:t>; </a:t>
            </a:r>
            <a:r>
              <a:rPr dirty="0" err="1"/>
              <a:t>débitos</a:t>
            </a:r>
            <a:r>
              <a:rPr dirty="0"/>
              <a:t> e </a:t>
            </a:r>
            <a:r>
              <a:rPr dirty="0" err="1"/>
              <a:t>pré‑pagos</a:t>
            </a:r>
            <a:r>
              <a:rPr dirty="0"/>
              <a:t> </a:t>
            </a:r>
            <a:r>
              <a:rPr dirty="0" err="1"/>
              <a:t>caíram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razão</a:t>
            </a:r>
            <a:r>
              <a:rPr dirty="0"/>
              <a:t> da </a:t>
            </a:r>
            <a:r>
              <a:rPr dirty="0" err="1"/>
              <a:t>limitação</a:t>
            </a:r>
            <a:r>
              <a:rPr dirty="0"/>
              <a:t> </a:t>
            </a:r>
            <a:r>
              <a:rPr dirty="0" err="1"/>
              <a:t>imposta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BC (0,5% para </a:t>
            </a:r>
            <a:r>
              <a:rPr dirty="0" err="1"/>
              <a:t>débito</a:t>
            </a:r>
            <a:r>
              <a:rPr dirty="0"/>
              <a:t> e 0,7% para </a:t>
            </a:r>
            <a:r>
              <a:rPr dirty="0" err="1"/>
              <a:t>pré‑pago</a:t>
            </a:r>
            <a:r>
              <a:rPr dirty="0"/>
              <a:t>)</a:t>
            </a:r>
            <a:r>
              <a:rPr u="sng" dirty="0">
                <a:solidFill>
                  <a:schemeClr val="accent6"/>
                </a:solidFill>
                <a:hlinkClick r:id="rId6"/>
              </a:rPr>
              <a:t>(regulacaoemnumeros-direitorio.fgv.br)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Comparação de Taxas Base de Crédito (Consumidor)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645920"/>
          <a:ext cx="73152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 e Recomendações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 fontScale="62500" lnSpcReduction="20000"/>
          </a:bodyPr>
          <a:lstStyle/>
          <a:p>
            <a:endParaRPr dirty="0"/>
          </a:p>
          <a:p>
            <a:r>
              <a:rPr dirty="0"/>
              <a:t>Visa e Mastercard </a:t>
            </a:r>
            <a:r>
              <a:rPr dirty="0" err="1"/>
              <a:t>praticam</a:t>
            </a:r>
            <a:r>
              <a:rPr dirty="0"/>
              <a:t> </a:t>
            </a:r>
            <a:r>
              <a:rPr dirty="0" err="1"/>
              <a:t>estruturas</a:t>
            </a:r>
            <a:r>
              <a:rPr dirty="0"/>
              <a:t> de </a:t>
            </a:r>
            <a:r>
              <a:rPr dirty="0" err="1"/>
              <a:t>intercâmbio</a:t>
            </a:r>
            <a:r>
              <a:rPr dirty="0"/>
              <a:t> </a:t>
            </a:r>
            <a:r>
              <a:rPr dirty="0" err="1"/>
              <a:t>semelhantes</a:t>
            </a:r>
            <a:r>
              <a:rPr dirty="0"/>
              <a:t>: </a:t>
            </a:r>
            <a:r>
              <a:rPr dirty="0" err="1"/>
              <a:t>taxas</a:t>
            </a:r>
            <a:r>
              <a:rPr dirty="0"/>
              <a:t> base </a:t>
            </a:r>
            <a:r>
              <a:rPr dirty="0" err="1"/>
              <a:t>diferenciadas</a:t>
            </a:r>
            <a:r>
              <a:rPr dirty="0"/>
              <a:t> por </a:t>
            </a:r>
            <a:r>
              <a:rPr dirty="0" err="1"/>
              <a:t>categoria</a:t>
            </a:r>
            <a:r>
              <a:rPr dirty="0"/>
              <a:t>/tier de </a:t>
            </a:r>
            <a:r>
              <a:rPr dirty="0" err="1"/>
              <a:t>cartão</a:t>
            </a:r>
            <a:r>
              <a:rPr dirty="0"/>
              <a:t> e </a:t>
            </a:r>
            <a:r>
              <a:rPr dirty="0" err="1"/>
              <a:t>ajustes</a:t>
            </a:r>
            <a:r>
              <a:rPr dirty="0"/>
              <a:t> para </a:t>
            </a:r>
            <a:r>
              <a:rPr dirty="0" err="1"/>
              <a:t>canais</a:t>
            </a:r>
            <a:r>
              <a:rPr dirty="0"/>
              <a:t> e </a:t>
            </a:r>
            <a:r>
              <a:rPr dirty="0" err="1"/>
              <a:t>parcelamentos</a:t>
            </a:r>
            <a:r>
              <a:rPr dirty="0"/>
              <a:t>.</a:t>
            </a:r>
          </a:p>
          <a:p>
            <a:r>
              <a:rPr dirty="0"/>
              <a:t>As </a:t>
            </a:r>
            <a:r>
              <a:rPr dirty="0" err="1"/>
              <a:t>taxas</a:t>
            </a:r>
            <a:r>
              <a:rPr dirty="0"/>
              <a:t> da Mastercard </a:t>
            </a:r>
            <a:r>
              <a:rPr dirty="0" err="1"/>
              <a:t>tendem</a:t>
            </a:r>
            <a:r>
              <a:rPr dirty="0"/>
              <a:t> a </a:t>
            </a:r>
            <a:r>
              <a:rPr dirty="0" err="1"/>
              <a:t>apresentar</a:t>
            </a:r>
            <a:r>
              <a:rPr dirty="0"/>
              <a:t>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granularidade</a:t>
            </a:r>
            <a:r>
              <a:rPr dirty="0"/>
              <a:t> por </a:t>
            </a:r>
            <a:r>
              <a:rPr dirty="0" err="1"/>
              <a:t>segmento</a:t>
            </a:r>
            <a:r>
              <a:rPr dirty="0"/>
              <a:t> e </a:t>
            </a:r>
            <a:r>
              <a:rPr dirty="0" err="1"/>
              <a:t>níveis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elevados</a:t>
            </a:r>
            <a:r>
              <a:rPr dirty="0"/>
              <a:t> para </a:t>
            </a:r>
            <a:r>
              <a:rPr dirty="0" err="1"/>
              <a:t>categorias</a:t>
            </a:r>
            <a:r>
              <a:rPr dirty="0"/>
              <a:t> premium (Black, World Legend).</a:t>
            </a:r>
          </a:p>
          <a:p>
            <a:r>
              <a:rPr dirty="0"/>
              <a:t>A </a:t>
            </a:r>
            <a:r>
              <a:rPr dirty="0" err="1"/>
              <a:t>Resolução</a:t>
            </a:r>
            <a:r>
              <a:rPr dirty="0"/>
              <a:t> BCB nº 246/2022 </a:t>
            </a:r>
            <a:r>
              <a:rPr dirty="0" err="1"/>
              <a:t>impõe</a:t>
            </a:r>
            <a:r>
              <a:rPr dirty="0"/>
              <a:t> </a:t>
            </a:r>
            <a:r>
              <a:rPr dirty="0" err="1"/>
              <a:t>limites</a:t>
            </a:r>
            <a:r>
              <a:rPr dirty="0"/>
              <a:t> </a:t>
            </a:r>
            <a:r>
              <a:rPr dirty="0" err="1"/>
              <a:t>rígidos</a:t>
            </a:r>
            <a:r>
              <a:rPr dirty="0"/>
              <a:t> para </a:t>
            </a:r>
            <a:r>
              <a:rPr dirty="0" err="1"/>
              <a:t>débito</a:t>
            </a:r>
            <a:r>
              <a:rPr dirty="0"/>
              <a:t> (0,5%) e </a:t>
            </a:r>
            <a:r>
              <a:rPr dirty="0" err="1"/>
              <a:t>pré‑pago</a:t>
            </a:r>
            <a:r>
              <a:rPr dirty="0"/>
              <a:t> (0,7%), </a:t>
            </a:r>
            <a:r>
              <a:rPr dirty="0" err="1"/>
              <a:t>pressionando</a:t>
            </a:r>
            <a:r>
              <a:rPr dirty="0"/>
              <a:t> a </a:t>
            </a:r>
            <a:r>
              <a:rPr dirty="0" err="1"/>
              <a:t>redução</a:t>
            </a:r>
            <a:r>
              <a:rPr dirty="0"/>
              <a:t> das </a:t>
            </a:r>
            <a:r>
              <a:rPr dirty="0" err="1"/>
              <a:t>tarifas</a:t>
            </a:r>
            <a:r>
              <a:rPr dirty="0"/>
              <a:t> e </a:t>
            </a:r>
            <a:r>
              <a:rPr dirty="0" err="1"/>
              <a:t>estimulando</a:t>
            </a:r>
            <a:r>
              <a:rPr dirty="0"/>
              <a:t> </a:t>
            </a:r>
            <a:r>
              <a:rPr dirty="0" err="1"/>
              <a:t>competitividade</a:t>
            </a:r>
            <a:r>
              <a:rPr dirty="0"/>
              <a:t>.</a:t>
            </a:r>
          </a:p>
          <a:p>
            <a:r>
              <a:rPr dirty="0"/>
              <a:t>O </a:t>
            </a:r>
            <a:r>
              <a:rPr dirty="0" err="1"/>
              <a:t>crescimento</a:t>
            </a:r>
            <a:r>
              <a:rPr dirty="0"/>
              <a:t> </a:t>
            </a:r>
            <a:r>
              <a:rPr dirty="0" err="1"/>
              <a:t>acelerado</a:t>
            </a:r>
            <a:r>
              <a:rPr dirty="0"/>
              <a:t> do Pix e do </a:t>
            </a:r>
            <a:r>
              <a:rPr dirty="0" err="1"/>
              <a:t>pré‑pago</a:t>
            </a:r>
            <a:r>
              <a:rPr dirty="0"/>
              <a:t> </a:t>
            </a:r>
            <a:r>
              <a:rPr dirty="0" err="1"/>
              <a:t>exige</a:t>
            </a:r>
            <a:r>
              <a:rPr dirty="0"/>
              <a:t> que </a:t>
            </a:r>
            <a:r>
              <a:rPr dirty="0" err="1"/>
              <a:t>emissores</a:t>
            </a:r>
            <a:r>
              <a:rPr dirty="0"/>
              <a:t> e </a:t>
            </a:r>
            <a:r>
              <a:rPr dirty="0" err="1"/>
              <a:t>adquirentes</a:t>
            </a:r>
            <a:r>
              <a:rPr dirty="0"/>
              <a:t> </a:t>
            </a:r>
            <a:r>
              <a:rPr dirty="0" err="1"/>
              <a:t>adaptem</a:t>
            </a:r>
            <a:r>
              <a:rPr dirty="0"/>
              <a:t> </a:t>
            </a:r>
            <a:r>
              <a:rPr dirty="0" err="1"/>
              <a:t>estratégias</a:t>
            </a:r>
            <a:r>
              <a:rPr dirty="0"/>
              <a:t> – </a:t>
            </a:r>
            <a:r>
              <a:rPr dirty="0" err="1"/>
              <a:t>oferecendo</a:t>
            </a:r>
            <a:r>
              <a:rPr dirty="0"/>
              <a:t> </a:t>
            </a:r>
            <a:r>
              <a:rPr dirty="0" err="1"/>
              <a:t>incentivos</a:t>
            </a:r>
            <a:r>
              <a:rPr dirty="0"/>
              <a:t>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meios</a:t>
            </a:r>
            <a:r>
              <a:rPr dirty="0"/>
              <a:t> </a:t>
            </a:r>
            <a:r>
              <a:rPr dirty="0" err="1"/>
              <a:t>eletrônicos</a:t>
            </a:r>
            <a:r>
              <a:rPr dirty="0"/>
              <a:t> de </a:t>
            </a:r>
            <a:r>
              <a:rPr dirty="0" err="1"/>
              <a:t>baixo</a:t>
            </a:r>
            <a:r>
              <a:rPr dirty="0"/>
              <a:t> </a:t>
            </a:r>
            <a:r>
              <a:rPr dirty="0" err="1"/>
              <a:t>custo</a:t>
            </a:r>
            <a:r>
              <a:rPr dirty="0"/>
              <a:t>.</a:t>
            </a:r>
          </a:p>
          <a:p>
            <a:r>
              <a:rPr dirty="0" err="1"/>
              <a:t>Recomenda</a:t>
            </a:r>
            <a:r>
              <a:rPr dirty="0"/>
              <a:t>-se </a:t>
            </a:r>
            <a:r>
              <a:rPr dirty="0" err="1"/>
              <a:t>investir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automação</a:t>
            </a:r>
            <a:r>
              <a:rPr dirty="0"/>
              <a:t> de coleta de dados (OCR e NLP) para </a:t>
            </a:r>
            <a:r>
              <a:rPr dirty="0" err="1"/>
              <a:t>atualizações</a:t>
            </a:r>
            <a:r>
              <a:rPr dirty="0"/>
              <a:t> </a:t>
            </a:r>
            <a:r>
              <a:rPr dirty="0" err="1"/>
              <a:t>periódicas</a:t>
            </a:r>
            <a:r>
              <a:rPr dirty="0"/>
              <a:t> e </a:t>
            </a:r>
            <a:r>
              <a:rPr dirty="0" err="1"/>
              <a:t>monitorar</a:t>
            </a:r>
            <a:r>
              <a:rPr dirty="0"/>
              <a:t> </a:t>
            </a:r>
            <a:r>
              <a:rPr dirty="0" err="1"/>
              <a:t>consultas</a:t>
            </a:r>
            <a:r>
              <a:rPr dirty="0"/>
              <a:t> </a:t>
            </a:r>
            <a:r>
              <a:rPr dirty="0" err="1"/>
              <a:t>públicas</a:t>
            </a:r>
            <a:r>
              <a:rPr dirty="0"/>
              <a:t> do BC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limites</a:t>
            </a:r>
            <a:r>
              <a:rPr dirty="0"/>
              <a:t> de </a:t>
            </a:r>
            <a:r>
              <a:rPr dirty="0" err="1"/>
              <a:t>crédito</a:t>
            </a:r>
            <a:r>
              <a:rPr dirty="0"/>
              <a:t> (</a:t>
            </a:r>
            <a:r>
              <a:rPr dirty="0" err="1"/>
              <a:t>previstas</a:t>
            </a:r>
            <a:r>
              <a:rPr dirty="0"/>
              <a:t> para 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1041</Words>
  <Application>Microsoft Office PowerPoint</Application>
  <PresentationFormat>Apresentação na tela (4:3)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Análise de Tarifas de Intercâmbio e Estatísticas de Pagamentos</vt:lpstr>
      <vt:lpstr>Agenda</vt:lpstr>
      <vt:lpstr>Desafio e Objetivos</vt:lpstr>
      <vt:lpstr>Metodologia de Extração de Dados</vt:lpstr>
      <vt:lpstr>Tarifas de Intercâmbio – Visa (Brasil)</vt:lpstr>
      <vt:lpstr>Tarifas de Intercâmbio – Mastercard (Crédito Consumidor)</vt:lpstr>
      <vt:lpstr>Mastercard – Comercial, Alto Valor e Outros</vt:lpstr>
      <vt:lpstr>Estatísticas de Pagamentos – Banco Central (BCB) 2023</vt:lpstr>
      <vt:lpstr>Comparação de Taxas Base de Crédito (Consumidor)</vt:lpstr>
      <vt:lpstr>Conclusões e Recomendações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de Tarifas de Intercâmbio e Estatísticas de Pagamentos</dc:title>
  <dc:subject/>
  <dc:creator/>
  <cp:keywords/>
  <dc:description>generated using python-pptx</dc:description>
  <cp:lastModifiedBy>Nielsen Castelo</cp:lastModifiedBy>
  <cp:revision>2</cp:revision>
  <dcterms:created xsi:type="dcterms:W3CDTF">2013-01-27T09:14:16Z</dcterms:created>
  <dcterms:modified xsi:type="dcterms:W3CDTF">2026-03-25T17:29:32Z</dcterms:modified>
  <cp:category/>
</cp:coreProperties>
</file>