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20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Visa</c:v>
                </c:pt>
              </c:strCache>
            </c:strRef>
          </c:tx>
          <c:spPr>
            <a:solidFill>
              <a:srgbClr val="1A56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Classic</c:v>
                </c:pt>
                <c:pt idx="1">
                  <c:v>Gold</c:v>
                </c:pt>
                <c:pt idx="2">
                  <c:v>Platinum</c:v>
                </c:pt>
                <c:pt idx="3">
                  <c:v>Signature</c:v>
                </c:pt>
                <c:pt idx="4">
                  <c:v>Infinite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1.17</c:v>
                </c:pt>
                <c:pt idx="1">
                  <c:v>1.34</c:v>
                </c:pt>
                <c:pt idx="2">
                  <c:v>1.73</c:v>
                </c:pt>
                <c:pt idx="3">
                  <c:v>1.79</c:v>
                </c:pt>
                <c:pt idx="4">
                  <c:v>1.83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64-48E1-B261-72ACE9BC957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Mastercard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Classic</c:v>
                </c:pt>
                <c:pt idx="1">
                  <c:v>Gold</c:v>
                </c:pt>
                <c:pt idx="2">
                  <c:v>Platinum</c:v>
                </c:pt>
                <c:pt idx="3">
                  <c:v>Signature</c:v>
                </c:pt>
                <c:pt idx="4">
                  <c:v>Infinite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1.27</c:v>
                </c:pt>
                <c:pt idx="2">
                  <c:v>1.69</c:v>
                </c:pt>
                <c:pt idx="3">
                  <c:v>2.27</c:v>
                </c:pt>
                <c:pt idx="4">
                  <c:v>2.27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764-48E1-B261-72ACE9BC957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Amex</c:v>
                </c:pt>
              </c:strCache>
            </c:strRef>
          </c:tx>
          <c:spPr>
            <a:solidFill>
              <a:srgbClr val="006FC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Classic</c:v>
                </c:pt>
                <c:pt idx="1">
                  <c:v>Gold</c:v>
                </c:pt>
                <c:pt idx="2">
                  <c:v>Platinum</c:v>
                </c:pt>
                <c:pt idx="3">
                  <c:v>Signature</c:v>
                </c:pt>
                <c:pt idx="4">
                  <c:v>Infinite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1.58</c:v>
                </c:pt>
                <c:pt idx="1">
                  <c:v>1.72</c:v>
                </c:pt>
                <c:pt idx="2">
                  <c:v>2.1</c:v>
                </c:pt>
                <c:pt idx="3">
                  <c:v>0</c:v>
                </c:pt>
                <c:pt idx="4">
                  <c:v>2.4500000000000002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764-48E1-B261-72ACE9BC957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Elo</c:v>
                </c:pt>
              </c:strCache>
            </c:strRef>
          </c:tx>
          <c:spPr>
            <a:solidFill>
              <a:srgbClr val="B886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Classic</c:v>
                </c:pt>
                <c:pt idx="1">
                  <c:v>Gold</c:v>
                </c:pt>
                <c:pt idx="2">
                  <c:v>Platinum</c:v>
                </c:pt>
                <c:pt idx="3">
                  <c:v>Signature</c:v>
                </c:pt>
                <c:pt idx="4">
                  <c:v>Infinite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1.1499999999999999</c:v>
                </c:pt>
                <c:pt idx="1">
                  <c:v>1.35</c:v>
                </c:pt>
                <c:pt idx="2">
                  <c:v>1.62</c:v>
                </c:pt>
                <c:pt idx="3">
                  <c:v>0</c:v>
                </c:pt>
                <c:pt idx="4">
                  <c:v>1.78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764-48E1-B261-72ACE9BC957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Hipercard</c:v>
                </c:pt>
              </c:strCache>
            </c:strRef>
          </c:tx>
          <c:spPr>
            <a:solidFill>
              <a:srgbClr val="8B1A1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Classic</c:v>
                </c:pt>
                <c:pt idx="1">
                  <c:v>Gold</c:v>
                </c:pt>
                <c:pt idx="2">
                  <c:v>Platinum</c:v>
                </c:pt>
                <c:pt idx="3">
                  <c:v>Signature</c:v>
                </c:pt>
                <c:pt idx="4">
                  <c:v>Infinite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1.25</c:v>
                </c:pt>
                <c:pt idx="1">
                  <c:v>0</c:v>
                </c:pt>
                <c:pt idx="2">
                  <c:v>1.45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764-48E1-B261-72ACE9BC95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pt-BR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Taxa Máxima Praticada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Visa Débito</c:v>
                </c:pt>
                <c:pt idx="1">
                  <c:v>MC Débito</c:v>
                </c:pt>
                <c:pt idx="2">
                  <c:v>Elo Débito</c:v>
                </c:pt>
                <c:pt idx="3">
                  <c:v>Visa Pré-pago</c:v>
                </c:pt>
                <c:pt idx="4">
                  <c:v>MC Pré-pago</c:v>
                </c:pt>
                <c:pt idx="5">
                  <c:v>Elo Pré-pago</c:v>
                </c:pt>
                <c:pt idx="6">
                  <c:v>AmEx Pré-pago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0.7</c:v>
                </c:pt>
                <c:pt idx="4">
                  <c:v>0.7</c:v>
                </c:pt>
                <c:pt idx="5">
                  <c:v>0.7</c:v>
                </c:pt>
                <c:pt idx="6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20-483F-A34A-9E3C322C7BE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Teto BCB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Visa Débito</c:v>
                </c:pt>
                <c:pt idx="1">
                  <c:v>MC Débito</c:v>
                </c:pt>
                <c:pt idx="2">
                  <c:v>Elo Débito</c:v>
                </c:pt>
                <c:pt idx="3">
                  <c:v>Visa Pré-pago</c:v>
                </c:pt>
                <c:pt idx="4">
                  <c:v>MC Pré-pago</c:v>
                </c:pt>
                <c:pt idx="5">
                  <c:v>Elo Pré-pago</c:v>
                </c:pt>
                <c:pt idx="6">
                  <c:v>AmEx Pré-pago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0.7</c:v>
                </c:pt>
                <c:pt idx="4">
                  <c:v>0.7</c:v>
                </c:pt>
                <c:pt idx="5">
                  <c:v>0.7</c:v>
                </c:pt>
                <c:pt idx="6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20-483F-A34A-9E3C322C7BE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pt-BR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49136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70832"/>
            <a:ext cx="9144000" cy="772668"/>
          </a:xfrm>
          <a:prstGeom prst="rect">
            <a:avLst/>
          </a:prstGeom>
          <a:solidFill>
            <a:srgbClr val="10274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3891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INTERCHANGE AI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Inteligência Artificial para Extração Automática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Regras de Taxas de Intercâmbio das Bandeiras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25603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788920"/>
            <a:ext cx="1325880" cy="438912"/>
          </a:xfrm>
          <a:prstGeom prst="rect">
            <a:avLst/>
          </a:prstGeom>
          <a:solidFill>
            <a:srgbClr val="1A56A0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78892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VISA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01952" y="2788920"/>
            <a:ext cx="1325880" cy="438912"/>
          </a:xfrm>
          <a:prstGeom prst="rect">
            <a:avLst/>
          </a:prstGeom>
          <a:solidFill>
            <a:srgbClr val="C0392B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01952" y="278892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MASTERCARD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434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Desafio Bolsista Doutor  ·  Cielo·  2026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0" y="4434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</a:rPr>
              <a:t>DR. NIELSEN CASTELO DAMASCENO DANTAS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4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ESTRUTURA DA APRESENTAÇÃO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92608" y="1078992"/>
            <a:ext cx="420624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1078992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292608" y="1078992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9536" y="11155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Contexto &amp; Motivação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1389888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Ecossistema de pagamentos BR, regulação BCB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92608" y="1865376"/>
            <a:ext cx="4206240" cy="694944"/>
          </a:xfrm>
          <a:prstGeom prst="rect">
            <a:avLst/>
          </a:prstGeom>
          <a:solidFill>
            <a:srgbClr val="EEF4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2608" y="1865376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" y="1865376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59536" y="190195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Fontes Primárias &amp; Proveniência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59536" y="2176272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Origens exatas dos dados — transparência metodológica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92608" y="2651760"/>
            <a:ext cx="420624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2608" y="2651760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" y="2651760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268833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Análise: Visa vs Mastercard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" y="2962656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Diferenças estruturais por segmento e produto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2608" y="3438144"/>
            <a:ext cx="4206240" cy="694944"/>
          </a:xfrm>
          <a:prstGeom prst="rect">
            <a:avLst/>
          </a:prstGeom>
          <a:solidFill>
            <a:srgbClr val="EEF4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2608" y="3438144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292608" y="3438144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9536" y="347472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Variação por Tipo de Cartão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49040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Crédito · Débito · Pré-pago · ATM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92608" y="4224528"/>
            <a:ext cx="420624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92608" y="4224528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" y="4224528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9536" y="42611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Ajustes Especiais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9536" y="4535424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Parcelado · CNP · Contactless · Saque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36592" y="1078992"/>
            <a:ext cx="420624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36592" y="1078992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4736592" y="1078992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03520" y="11155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Arquitetura do Pipeline de IA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303520" y="1389888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Regex + LLM multi-provedor + Validação BCB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36592" y="1865376"/>
            <a:ext cx="4206240" cy="694944"/>
          </a:xfrm>
          <a:prstGeom prst="rect">
            <a:avLst/>
          </a:prstGeom>
          <a:solidFill>
            <a:srgbClr val="EEF4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36592" y="1865376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4736592" y="1865376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303520" y="190195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Dashboard — Cobertura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03520" y="2176272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O que responde e o que ainda não responde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36592" y="2651760"/>
            <a:ext cx="420624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36592" y="2651760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1" name="Text 39"/>
          <p:cNvSpPr/>
          <p:nvPr/>
        </p:nvSpPr>
        <p:spPr>
          <a:xfrm>
            <a:off x="4736592" y="2651760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303520" y="268833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Desafios Técnicos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303520" y="2962656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PDFs, tabelas aninhadas, semântica condicional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36592" y="3438144"/>
            <a:ext cx="4206240" cy="694944"/>
          </a:xfrm>
          <a:prstGeom prst="rect">
            <a:avLst/>
          </a:prstGeom>
          <a:solidFill>
            <a:srgbClr val="EEF4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736592" y="3438144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6" name="Text 44"/>
          <p:cNvSpPr/>
          <p:nvPr/>
        </p:nvSpPr>
        <p:spPr>
          <a:xfrm>
            <a:off x="4736592" y="3438144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09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303520" y="347472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Evolução Doctoral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303520" y="3749040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RAG · Fine-tuning · NER · HITL · Roadmap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36592" y="4224528"/>
            <a:ext cx="420624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36592" y="4224528"/>
            <a:ext cx="475488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24528"/>
            <a:ext cx="475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03520" y="42611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4B"/>
                </a:solidFill>
              </a:rPr>
              <a:t>Conclusão &amp; Contribuição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5303520" y="4535424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Resultados alcançados e próximos passos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4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— ECOSSISTEMA DE PAGAMENTOS BRASILEIRO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47472" y="1078992"/>
            <a:ext cx="1993392" cy="1298448"/>
          </a:xfrm>
          <a:prstGeom prst="rect">
            <a:avLst/>
          </a:prstGeom>
          <a:solidFill>
            <a:srgbClr val="1A56A0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7472" y="1143000"/>
            <a:ext cx="199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6+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47472" y="1847088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Bandeiras ativas no Brasil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23744" y="1078992"/>
            <a:ext cx="1993392" cy="1298448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143000"/>
            <a:ext cx="199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R$3T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523744" y="1847088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Volume transacionado/ano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0016" y="1078992"/>
            <a:ext cx="1993392" cy="1298448"/>
          </a:xfrm>
          <a:prstGeom prst="rect">
            <a:avLst/>
          </a:prstGeom>
          <a:solidFill>
            <a:srgbClr val="16A34A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143000"/>
            <a:ext cx="199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140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700016" y="1847088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Regras estruturadas no DB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76288" y="1078992"/>
            <a:ext cx="1993392" cy="1298448"/>
          </a:xfrm>
          <a:prstGeom prst="rect">
            <a:avLst/>
          </a:prstGeom>
          <a:solidFill>
            <a:srgbClr val="D97706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76288" y="1143000"/>
            <a:ext cx="199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BCB 35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876288" y="1847088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Resolução regulatória base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" y="2542032"/>
            <a:ext cx="54864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54203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O intercâmbio é a taxa paga pelo banco adquirente ao banco emissor em cada transação. É o principal componente de custo do MDR (Merchant Discount Rate) cobrado dos estabelecimentos comerciais.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7472" y="3118104"/>
            <a:ext cx="54864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118104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No Brasil, as regras são definidas por cada Bandeira em manuais técnicos atualizados trimestralmente, com centenas de combinações de produto × segmento × canal × parcelamento.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" y="3694176"/>
            <a:ext cx="54864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694176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O Banco Central regula os tetos para débito (0,50%) e pré-pago (0,70%) pela Resolução 35/2020. Crédito PF não tem teto regulatório — varia de 1,10% a 2,45%.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7472" y="4270248"/>
            <a:ext cx="54864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27024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O objetivo do Interchange AI é automatizar a extração, estruturação e comparação dessas regras, eliminando o trabalho manual hoje feito por equipes de pricing e regulatório.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Fontes: developercielo.github.io | bcb.gov.br/PAAR | Resoluções BCB 35/2020 &amp; CMN 4.282/2013 | Cielo/Rede IRF 2024 | Dados de amostra compilados de referências públicas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PRIMÁRIAS — DE ONDE VIERAM OS DADOS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20040" y="1024128"/>
            <a:ext cx="8503920" cy="621792"/>
          </a:xfrm>
          <a:prstGeom prst="rect">
            <a:avLst/>
          </a:prstGeom>
          <a:solidFill>
            <a:srgbClr val="FEF3C7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24128"/>
            <a:ext cx="109728" cy="6217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06070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2400E"/>
                </a:solidFill>
              </a:rPr>
              <a:t>⚠  DECLARAÇÃO METODOLÓGICA: Os manuais oficiais de intercâmbio Visa e Mastercard são DOCUMENTOS CONFIDENCIAIS, distribuídos exclusivamente a membros credenciados (bancos emissores, credenciadoras) sob NDA. Os dados do projeto são baseados em referências públicas equivalentes listadas abaixo.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755648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755648"/>
            <a:ext cx="960120" cy="45720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75564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VISA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53312" y="178308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1F4B"/>
                </a:solidFill>
              </a:rPr>
              <a:t>visa_sample.txt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53312" y="199339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Portal Cielo IRF 2024 + relatórios PAAR BCB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462272" y="18562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1A56A0"/>
                </a:solidFill>
              </a:rPr>
              <a:t>developercielo.github.io/manual • visa.com/merchantsites/us/dam/VIOR.pdf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20040" y="2276856"/>
            <a:ext cx="8503920" cy="457200"/>
          </a:xfrm>
          <a:prstGeom prst="rect">
            <a:avLst/>
          </a:prstGeom>
          <a:solidFill>
            <a:srgbClr val="EEF4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276856"/>
            <a:ext cx="960120" cy="4572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227685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MASTERCARD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30428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1F4B"/>
                </a:solidFill>
              </a:rPr>
              <a:t>mastercard_sample.txt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53312" y="2514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MC Interchange Program BR 2024 + notas Cielo/Rede CVM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462272" y="23774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1A56A0"/>
                </a:solidFill>
              </a:rPr>
              <a:t>mastercard.com/interchange • bc.gov.br/PAAR 2024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20040" y="2798064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798064"/>
            <a:ext cx="960120" cy="457200"/>
          </a:xfrm>
          <a:prstGeom prst="rect">
            <a:avLst/>
          </a:prstGeom>
          <a:solidFill>
            <a:srgbClr val="006FCF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7980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AMEX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353312" y="282549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1F4B"/>
                </a:solidFill>
              </a:rPr>
              <a:t>amex_bcb_sample.txt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353312" y="30358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Relatórios AmEx Bradesco/BB + CVM/B3 notas explicativas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62272" y="289864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1A56A0"/>
                </a:solidFill>
              </a:rPr>
              <a:t>americanexpress.com/pt-br • cvm.gov.br (relatórios anuais)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20040" y="3319272"/>
            <a:ext cx="8503920" cy="457200"/>
          </a:xfrm>
          <a:prstGeom prst="rect">
            <a:avLst/>
          </a:prstGeom>
          <a:solidFill>
            <a:srgbClr val="EEF4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319272"/>
            <a:ext cx="960120" cy="45720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331927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ELO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33467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1F4B"/>
                </a:solidFill>
              </a:rPr>
              <a:t>sample_interchange_rules.csv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353312" y="355701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Elo Serviços S.A. — tabela pública 2024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62272" y="341985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1A56A0"/>
                </a:solidFill>
              </a:rPr>
              <a:t>elocard.com.br/para-seu-negocio • BC Circular 3.886/2018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840480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20040" y="3840480"/>
            <a:ext cx="960120" cy="4572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38404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HIPERCARD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353312" y="386791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1F4B"/>
                </a:solidFill>
              </a:rPr>
              <a:t>sample_interchange_rules.csv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353312" y="407822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Hipercard — dados públicos via Itaú Unibanco RI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462272" y="394106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1A56A0"/>
                </a:solidFill>
              </a:rPr>
              <a:t>hipercard.com.br • itau.com.br/relacoes-com-investidores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4361688"/>
            <a:ext cx="8503920" cy="457200"/>
          </a:xfrm>
          <a:prstGeom prst="rect">
            <a:avLst/>
          </a:prstGeom>
          <a:solidFill>
            <a:srgbClr val="EEF4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0040" y="4361688"/>
            <a:ext cx="960120" cy="457200"/>
          </a:xfrm>
          <a:prstGeom prst="rect">
            <a:avLst/>
          </a:prstGeom>
          <a:solidFill>
            <a:srgbClr val="1A7A4A"/>
          </a:solidFill>
          <a:ln/>
        </p:spPr>
      </p:sp>
      <p:sp>
        <p:nvSpPr>
          <p:cNvPr id="39" name="Text 37"/>
          <p:cNvSpPr/>
          <p:nvPr/>
        </p:nvSpPr>
        <p:spPr>
          <a:xfrm>
            <a:off x="320040" y="43616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BCB (Limites)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353312" y="43891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1F4B"/>
                </a:solidFill>
              </a:rPr>
              <a:t>sample_interchange_rules.csv (BCB_Limite)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353312" y="459943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Resolução BCB nº 35/2020 + CMN 4.282/2013 (lei pública)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462272" y="446227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1A56A0"/>
                </a:solidFill>
              </a:rPr>
              <a:t>bcb.gov.br › Res_0035_v1_O.pdf • normativos.bcb.gov.br/Circ_3886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4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vs MASTERCARD — TAXAS BASE CRÉDITO PF (À VISTA · CARTÃO PRESENTE)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24128"/>
          <a:ext cx="8503920" cy="2270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Produto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Visa (%)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Mastercard (%)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Δ (pp)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Favorece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Classic / Standard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1,17%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1,10–1,23%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≈ 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MC (supermercados)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Gold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1,34%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1,20–1,34%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0 a −0,14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MC ligeiramente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Platinum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1,73%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1,65–1,73%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≈ 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Empate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Black / Infinite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1,83%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1,80–1,83%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≈ 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Empate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Signature / World Legend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1,79%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2,22–2,32%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</a:rPr>
                        <a:t>+0,43–0,53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VISA (−43 pp)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PJ Corporativo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2,08%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1,80%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</a:rPr>
                        <a:t>−0,28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MC (−28 pp)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PJ PCard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N/A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0,75%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MC exclusivo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Agro Comercial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N/A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1,65%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MC exclusivo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133088"/>
            <a:ext cx="8503920" cy="530352"/>
          </a:xfrm>
          <a:prstGeom prst="rect">
            <a:avLst/>
          </a:prstGeom>
          <a:solidFill>
            <a:srgbClr val="EEF4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3"/>
          <p:cNvSpPr/>
          <p:nvPr/>
        </p:nvSpPr>
        <p:spPr>
          <a:xfrm>
            <a:off x="320040" y="4133088"/>
            <a:ext cx="109728" cy="530352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416966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4B"/>
                </a:solidFill>
              </a:rPr>
              <a:t>💡  INSIGHT CHAVE: A Mastercard é estruturalmente mais cara para o topo PF (World Legend +43pp vs Infinite Visa), mas significativamente mais barata para PJ corporativo e PCard. Para e-commerce autenticado CNP, a MC cobra +0,15% vs +0,40% da Visa — vantagem material para o mercado digital.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Fontes: developercielo.github.io | bcb.gov.br/PAAR | Resoluções BCB 35/2020 &amp; CMN 4.282/2013 | Cielo/Rede IRF 2024 | Dados de amostra compilados de referências públicas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TAXAS BASE — CRÉDITO PF — TODAS AS BANDEIRAS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1024128"/>
          <a:ext cx="850392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Fontes: developercielo.github.io | bcb.gov.br/PAAR | Resoluções BCB 35/2020 &amp; CMN 4.282/2013 | Cielo/Rede IRF 2024 | Dados de amostra compilados de referências públicas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4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DE TAXAS POR FAMÍLIA DE CARTÃO · TRANSAÇÃO · SEGMENTO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114800" cy="175564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97280"/>
            <a:ext cx="4114800" cy="41148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0972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CRÉDITO PF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6A0"/>
                </a:solidFill>
              </a:rPr>
              <a:t>1,10% – 2,45%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Maior amplitude. Topo: Amex Centurion 2,45%.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Base: MC Standard supermercado 1,10%.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27448" y="1097280"/>
            <a:ext cx="4114800" cy="175564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27448" y="1097280"/>
            <a:ext cx="411480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727448" y="10972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CRÉDITO PJ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5727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9488"/>
                </a:solidFill>
              </a:rPr>
              <a:t>0,75% – 2,30%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64608" y="193852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PCard MC: 0,75% (mais barato do mercado).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Amex Corporate Platinum: 2,30%.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017520"/>
            <a:ext cx="4114800" cy="175564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017520"/>
            <a:ext cx="4114800" cy="4114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30175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DÉBITO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4930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A34A"/>
                </a:solidFill>
              </a:rPr>
              <a:t>0,25% – 0,50%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385876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Teto BCB: 0,50% + cap R$0,35.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MC: até R$0,30 cap em alguns segmentos.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27448" y="3017520"/>
            <a:ext cx="4114800" cy="175564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27448" y="3017520"/>
            <a:ext cx="4114800" cy="411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4727448" y="30175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PRÉ-PAGO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64608" y="34930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C2626"/>
                </a:solidFill>
              </a:rPr>
              <a:t>0,30% – 1,20%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864608" y="385876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Teto BCB: 0,70%.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⚠ Amex Prepaid 1,20% — VIOLA o teto BCB!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681728"/>
            <a:ext cx="8503920" cy="365760"/>
          </a:xfrm>
          <a:prstGeom prst="rect">
            <a:avLst/>
          </a:prstGeom>
          <a:solidFill>
            <a:srgbClr val="0B1F4B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" y="4700016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SAQUE ATM (taxa fixa):  Visa R$8,00  ·  MC Crédito R$8,00  ·  MC Débito R$6,50  ·  Elo R$7,00  ·  Amex R$10,00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4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ESPECIAIS — PARCELADO · CNP · CONTACTLESS · SAQUE · PRÉ-PAGO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20040" y="1024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4B"/>
                </a:solidFill>
              </a:rPr>
              <a:t>Parcelamento (ajuste adicional sobre taxa base):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5303520" cy="9753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Parcelas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Visa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Amex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F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Elo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Hipercard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2–6x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+0,35%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+0,65%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+0,45%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+0,55%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+0,50%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7–12x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+1,00%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+1,10%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+0,95%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+0,85%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7–21x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</a:rPr>
                        <a:t>+0,90%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80644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4B"/>
                </a:solidFill>
              </a:rPr>
              <a:t>CNP / Não Presencial:</a:t>
            </a:r>
            <a:endParaRPr lang="en-US" sz="11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1335024"/>
          <a:ext cx="3017520" cy="1463040"/>
        </p:xfrm>
        <a:graphic>
          <a:graphicData uri="http://schemas.openxmlformats.org/drawingml/2006/table">
            <a:tbl>
              <a:tblPr/>
              <a:tblGrid>
                <a:gridCol w="1664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Canal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Visa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CNP autenticado (ECI5/2)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+0,40%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+0,15%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CNP não autenticado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+0,55%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+0,20%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Débito CNP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</a:rPr>
                        <a:t>−0,05%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</a:rPr>
                        <a:t>−0,25%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Pré-pago CNP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</a:rPr>
                        <a:t>−0,40%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</a:rPr>
                        <a:t>−0,40%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Amex SafeKey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+0,30%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20040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4B"/>
                </a:solidFill>
              </a:rPr>
              <a:t>Contactless:</a:t>
            </a:r>
            <a:endParaRPr lang="en-US" sz="11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29000"/>
          <a:ext cx="2560320" cy="12192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Bandeira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Ajuste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Visa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0,00%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Mastercard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+0,05%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Amex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0,00%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+0,03%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3108960" y="3127248"/>
            <a:ext cx="5715000" cy="1920240"/>
          </a:xfrm>
          <a:prstGeom prst="rect">
            <a:avLst/>
          </a:prstGeom>
          <a:solidFill>
            <a:srgbClr val="F0FDF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108960" y="3127248"/>
            <a:ext cx="5715000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7"/>
          <p:cNvSpPr/>
          <p:nvPr/>
        </p:nvSpPr>
        <p:spPr>
          <a:xfrm>
            <a:off x="3108960" y="3127248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CONFORMIDADE BCB — Resolução nº 35/2020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3246120" y="3547872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✅  Débito doméstico: teto 0,50% | cap absoluto R$ 0,35/transação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3246120" y="384048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✅  Transporte público: cap R$ 0,12 | Micro comércios: cap R$ 0,25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3246120" y="413308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✅  Pré-pago doméstico: teto 0,70%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3246120" y="4425696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</a:rPr>
              <a:t>⚠️  AmEx Prepaid Standard: 1,20% — ACIMA do teto BCB (0,70%)</a:t>
            </a:r>
            <a:endParaRPr lang="en-US" sz="950" dirty="0"/>
          </a:p>
        </p:txBody>
      </p:sp>
      <p:sp>
        <p:nvSpPr>
          <p:cNvPr id="5" name="Text 12"/>
          <p:cNvSpPr/>
          <p:nvPr/>
        </p:nvSpPr>
        <p:spPr>
          <a:xfrm>
            <a:off x="3246120" y="471830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ℹ️   Crédito PF: SEM teto regulatório — mercado livre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Fontes: developercielo.github.io | bcb.gov.br/PAAR | Resoluções BCB 35/2020 &amp; CMN 4.282/2013 | Cielo/Rede IRF 2024 | Dados de amostra compilados de referências públicas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ARQUITETURA DO PIPELINE DE IA — 7 CAMADAS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92608" y="1115568"/>
            <a:ext cx="1115568" cy="1234440"/>
          </a:xfrm>
          <a:prstGeom prst="rect">
            <a:avLst/>
          </a:prstGeom>
          <a:solidFill>
            <a:srgbClr val="1A56A0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92608" y="1115568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92608" y="148132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INGESTÃO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2608" y="1847088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PDF · TXT · HTML · CSV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408176" y="150876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527048" y="1115568"/>
            <a:ext cx="1115568" cy="1234440"/>
          </a:xfrm>
          <a:prstGeom prst="rect">
            <a:avLst/>
          </a:prstGeom>
          <a:solidFill>
            <a:srgbClr val="0F766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27048" y="1115568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148132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EXTRAÇÃO TEXTO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27048" y="1847088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pdfplumber · pypdf · OCR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42616" y="150876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61488" y="1115568"/>
            <a:ext cx="1115568" cy="1234440"/>
          </a:xfrm>
          <a:prstGeom prst="rect">
            <a:avLst/>
          </a:prstGeom>
          <a:solidFill>
            <a:srgbClr val="1A56A0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61488" y="1115568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761488" y="148132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CHUNKING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61488" y="1847088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Segmentação 800 chars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877056" y="150876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95928" y="1115568"/>
            <a:ext cx="1115568" cy="1234440"/>
          </a:xfrm>
          <a:prstGeom prst="rect">
            <a:avLst/>
          </a:prstGeom>
          <a:solidFill>
            <a:srgbClr val="0F766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995928" y="1115568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995928" y="148132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REGEX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995928" y="1847088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15+ padrões · patterns.py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11496" y="150876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230368" y="1115568"/>
            <a:ext cx="1115568" cy="1234440"/>
          </a:xfrm>
          <a:prstGeom prst="rect">
            <a:avLst/>
          </a:prstGeom>
          <a:solidFill>
            <a:srgbClr val="6D28D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230368" y="1115568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230368" y="148132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LLM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30368" y="1847088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Claude·GPT·Gemini·Ollama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345936" y="150876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64808" y="1115568"/>
            <a:ext cx="1115568" cy="1234440"/>
          </a:xfrm>
          <a:prstGeom prst="rect">
            <a:avLst/>
          </a:prstGeom>
          <a:solidFill>
            <a:srgbClr val="B4530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64808" y="1115568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64808" y="148132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VALIDAÇÃO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64808" y="1847088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Score 0-1 · BCB-aware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580376" y="150876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699248" y="1115568"/>
            <a:ext cx="1115568" cy="1234440"/>
          </a:xfrm>
          <a:prstGeom prst="rect">
            <a:avLst/>
          </a:prstGeom>
          <a:solidFill>
            <a:srgbClr val="065F46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699248" y="1115568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699248" y="148132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PERSISTÊNCIA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99248" y="1847088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SQLite · PostgreSQL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92608" y="2487168"/>
            <a:ext cx="8558784" cy="475488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9" name="Text 37"/>
          <p:cNvSpPr/>
          <p:nvPr/>
        </p:nvSpPr>
        <p:spPr>
          <a:xfrm>
            <a:off x="384048" y="25146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MULTI-LLM SUPPORT — Agnóstico de provedor: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383280" y="2542032"/>
            <a:ext cx="1280160" cy="365760"/>
          </a:xfrm>
          <a:prstGeom prst="rect">
            <a:avLst/>
          </a:prstGeom>
          <a:solidFill>
            <a:srgbClr val="6D28D9">
              <a:alpha val="8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3383280" y="2542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Anthropic Claude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73168" y="2542032"/>
            <a:ext cx="1280160" cy="365760"/>
          </a:xfrm>
          <a:prstGeom prst="rect">
            <a:avLst/>
          </a:prstGeom>
          <a:solidFill>
            <a:srgbClr val="0F766E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4773168" y="2542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OpenAI GPT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63056" y="2542032"/>
            <a:ext cx="1280160" cy="365760"/>
          </a:xfrm>
          <a:prstGeom prst="rect">
            <a:avLst/>
          </a:prstGeom>
          <a:solidFill>
            <a:srgbClr val="1A56A0">
              <a:alpha val="8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6163056" y="2542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Google Gemini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552944" y="2542032"/>
            <a:ext cx="1280160" cy="365760"/>
          </a:xfrm>
          <a:prstGeom prst="rect">
            <a:avLst/>
          </a:prstGeom>
          <a:solidFill>
            <a:srgbClr val="065F46">
              <a:alpha val="8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7552944" y="2542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Ollama (Local)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92608" y="3127248"/>
            <a:ext cx="2029968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92608" y="3127248"/>
            <a:ext cx="2029968" cy="347472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50" name="Text 48"/>
          <p:cNvSpPr/>
          <p:nvPr/>
        </p:nvSpPr>
        <p:spPr>
          <a:xfrm>
            <a:off x="292608" y="3127248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FastAPI REST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02336" y="3547872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/rules /simulate /compare /extract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487168" y="3127248"/>
            <a:ext cx="2029968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2487168" y="3127248"/>
            <a:ext cx="2029968" cy="34747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4" name="Text 52"/>
          <p:cNvSpPr/>
          <p:nvPr/>
        </p:nvSpPr>
        <p:spPr>
          <a:xfrm>
            <a:off x="2487168" y="3127248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Streamlit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596896" y="3547872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Dashboard interativo + Plotly charts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681728" y="3127248"/>
            <a:ext cx="2029968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81728" y="3127248"/>
            <a:ext cx="2029968" cy="3474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58" name="Text 56"/>
          <p:cNvSpPr/>
          <p:nvPr/>
        </p:nvSpPr>
        <p:spPr>
          <a:xfrm>
            <a:off x="4681728" y="3127248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Relatório HTML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791456" y="3547872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Análise exploratória standalone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876288" y="3127248"/>
            <a:ext cx="2029968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876288" y="3127248"/>
            <a:ext cx="2029968" cy="34747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62" name="Text 60"/>
          <p:cNvSpPr/>
          <p:nvPr/>
        </p:nvSpPr>
        <p:spPr>
          <a:xfrm>
            <a:off x="6876288" y="3127248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Airflow DAG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6986016" y="3547872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Orquestração semanal automática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4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O QUE RESPONDE E LACUNAS IDENTIFICADAS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92608" y="1024128"/>
            <a:ext cx="4160520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02412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✅  O QUE O DASHBOARD RESPONDE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2608" y="1417320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" y="14173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43560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Taxas base Visa, MC, Amex, Elo, Hipercard — 140 regras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" y="1755648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" y="175564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" y="177393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Filtros por produto, canal, segmento, público (PF/PJ)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92608" y="2093976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" y="209397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" y="21122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Simulador de taxa efetiva com fee em R$ por valor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" y="2432304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" y="24323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Comparativo multi-bandeira side-by-side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2608" y="2770632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292608" y="27706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278892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Ajustes: parcelado, CNP, contactless, saque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2608" y="3108960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292608" y="31089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312724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Conformidade BCB — alertas de violação automáticos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92608" y="3447288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292608" y="344728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" y="346557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Exportação CSV das regras filtradas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2608" y="3785616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Text 26"/>
          <p:cNvSpPr/>
          <p:nvPr/>
        </p:nvSpPr>
        <p:spPr>
          <a:xfrm>
            <a:off x="292608" y="378561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38039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Score de confiança de cada regra extraída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92608" y="4123944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1" name="Text 29"/>
          <p:cNvSpPr/>
          <p:nvPr/>
        </p:nvSpPr>
        <p:spPr>
          <a:xfrm>
            <a:off x="292608" y="41239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8368" y="414223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API REST /compare e /simulate (Swagger docs)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92608" y="4462272"/>
            <a:ext cx="32004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4" name="Text 32"/>
          <p:cNvSpPr/>
          <p:nvPr/>
        </p:nvSpPr>
        <p:spPr>
          <a:xfrm>
            <a:off x="292608" y="44622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✔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8368" y="448056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Log de extrações com auditoria por documento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09160" y="1024128"/>
            <a:ext cx="4160520" cy="3474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7" name="Text 35"/>
          <p:cNvSpPr/>
          <p:nvPr/>
        </p:nvSpPr>
        <p:spPr>
          <a:xfrm>
            <a:off x="4709160" y="102412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⚡  LACUNAS — EVOLUÇÃO FUTURA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09160" y="1417320"/>
            <a:ext cx="4160520" cy="384048"/>
          </a:xfrm>
          <a:prstGeom prst="rect">
            <a:avLst/>
          </a:prstGeom>
          <a:solidFill>
            <a:srgbClr val="FFF7ED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800600" y="14447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Linguagem natural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800600" y="160934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'Qual taxa Platinum supermercado 6x Visa?'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09160" y="1856232"/>
            <a:ext cx="4160520" cy="38404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800600" y="18836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PDFs proprietários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800600" y="2048256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Manuais oficiais requerem credenciamento NDA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09160" y="2295144"/>
            <a:ext cx="4160520" cy="384048"/>
          </a:xfrm>
          <a:prstGeom prst="rect">
            <a:avLst/>
          </a:prstGeom>
          <a:solidFill>
            <a:srgbClr val="FFF7ED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800600" y="232257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Diff semântico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800600" y="248716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Detectar mudanças entre versões trimestrais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09160" y="2734056"/>
            <a:ext cx="4160520" cy="38404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800600" y="276148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Incentivos de volume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800600" y="292608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Thresholds de desconto por volume transacionado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09160" y="3172968"/>
            <a:ext cx="4160520" cy="384048"/>
          </a:xfrm>
          <a:prstGeom prst="rect">
            <a:avLst/>
          </a:prstGeom>
          <a:solidFill>
            <a:srgbClr val="FFF7ED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00600" y="320040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Documentos escaneados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800600" y="33649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OCR + pre-processamento de imagem integrado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709160" y="3611880"/>
            <a:ext cx="4160520" cy="38404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800600" y="3639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Espanhol (LAC)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800600" y="380390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Regex e normalização para docs em espanhol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09160" y="4050792"/>
            <a:ext cx="4160520" cy="384048"/>
          </a:xfrm>
          <a:prstGeom prst="rect">
            <a:avLst/>
          </a:prstGeom>
          <a:solidFill>
            <a:srgbClr val="FFF7ED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4800600" y="407822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RAG integrado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4800600" y="4242816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Busca semântica sobre corpus de manuais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709160" y="4489704"/>
            <a:ext cx="4160520" cy="38404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4800600" y="45171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Fine-tuning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800600" y="46817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Modelo especializado em intercâmbio BR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Fontes: developercielo.github.io | bcb.gov.br/PAAR | Resoluções BCB 35/2020 &amp; CMN 4.282/2013 | Cielo/Rede IRF 2024 | Dados de amostra compilados de referências públicas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4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TÉCNICOS — PRÉ-PROCESSAMENTO E EXTRAÇÃO PARA AGENTE DE 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92608" y="1078992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1078992"/>
            <a:ext cx="4206240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02336" y="107899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  PDFs Escaneados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94176" y="1133856"/>
            <a:ext cx="694944" cy="237744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694176" y="1133856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Alto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14813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~40% dos documentos históricos são imagens digitalizadas. pytesseract tem ~15% taxa de erro em tabelas financeiras densas. Solução: pipeline OCR com pré-processamento de imagem (deskew, binarização, denoising).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36592" y="1078992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36592" y="1078992"/>
            <a:ext cx="4206240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07899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  Tabelas Aninhadas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133856"/>
            <a:ext cx="694944" cy="237744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1133856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Alto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46320" y="14813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rowspan/colspan perdem alinhamento na extração de texto. pdfplumber falha em células mescladas. Solução: Document AI (Google/AWS Textract) + reconstrução semântica com LLM.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92608" y="2377440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2608" y="2377440"/>
            <a:ext cx="4206240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" y="23774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  Terminologia Heterogênea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94176" y="2432304"/>
            <a:ext cx="694944" cy="237744"/>
          </a:xfrm>
          <a:prstGeom prst="rect">
            <a:avLst/>
          </a:prstGeom>
          <a:solidFill>
            <a:srgbClr val="F59E0B">
              <a:alpha val="7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694176" y="243230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Médio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02336" y="277977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Cada Bandeira nomeia o mesmo produto diferente: 'World Legend'=MC, 'Infinite'=Visa, 'Centurion'=Amex. O mapa canônico cobre 85+ produtos conhecidos — qualquer novo produto retorna None.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2377440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2377440"/>
            <a:ext cx="4206240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23774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  Condicionais Implícitas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38160" y="2432304"/>
            <a:ext cx="694944" cy="237744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8138160" y="243230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Alto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46320" y="277977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'...exceto para segmentos X e Y quando canal Z...' — regex não captura lógica condicional. Requer LLM com raciocínio lógico formal + validação por modelo de regras.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92608" y="3675888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92608" y="3675888"/>
            <a:ext cx="4206240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402336" y="367588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  Atualizações Trimestrais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94176" y="3730752"/>
            <a:ext cx="694944" cy="237744"/>
          </a:xfrm>
          <a:prstGeom prst="rect">
            <a:avLst/>
          </a:prstGeom>
          <a:solidFill>
            <a:srgbClr val="F59E0B">
              <a:alpha val="7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3694176" y="373075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Médio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2336" y="407822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Sem diff semântico, impossível detectar qual regra mudou sem reprocessar tudo. Solução proposta: embedding vetorial + similaridade coseno para detecção incremental de mudanças.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36592" y="3675888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36592" y="3675888"/>
            <a:ext cx="4206240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367588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  Ambiguidade de Valor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138160" y="3730752"/>
            <a:ext cx="694944" cy="237744"/>
          </a:xfrm>
          <a:prstGeom prst="rect">
            <a:avLst/>
          </a:prstGeom>
          <a:solidFill>
            <a:srgbClr val="F59E0B">
              <a:alpha val="7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8138160" y="373075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Médio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46320" y="407822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'1,17%' pode ser taxa base, ajuste, ou teto dependendo do contexto da sentença. Score de confiança &lt; 0,50 sinaliza ambiguidade — requer revisão humana (HITL).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4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DO PIPELINE — VALIDAÇÃO COM DADOS DE REFERÊNCIA PÚBLICA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92608" y="1051560"/>
            <a:ext cx="1325880" cy="1188720"/>
          </a:xfrm>
          <a:prstGeom prst="rect">
            <a:avLst/>
          </a:prstGeom>
          <a:solidFill>
            <a:srgbClr val="1A56A0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92608" y="10972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140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92608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Regras no banco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37360" y="1051560"/>
            <a:ext cx="1325880" cy="1188720"/>
          </a:xfrm>
          <a:prstGeom prst="rect">
            <a:avLst/>
          </a:prstGeom>
          <a:solidFill>
            <a:srgbClr val="16A34A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737360" y="10972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115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737360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Testes passando (100%)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82112" y="1051560"/>
            <a:ext cx="1325880" cy="1188720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82112" y="10972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0,767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82112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Score médio confiança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26864" y="1051560"/>
            <a:ext cx="1325880" cy="1188720"/>
          </a:xfrm>
          <a:prstGeom prst="rect">
            <a:avLst/>
          </a:prstGeom>
          <a:solidFill>
            <a:srgbClr val="0B1F4B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26864" y="10972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626864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Tipos de regra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71616" y="1051560"/>
            <a:ext cx="1325880" cy="1188720"/>
          </a:xfrm>
          <a:prstGeom prst="rect">
            <a:avLst/>
          </a:prstGeom>
          <a:solidFill>
            <a:srgbClr val="DC2626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71616" y="10972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71616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Violação BCB detectada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516368" y="1051560"/>
            <a:ext cx="1325880" cy="1188720"/>
          </a:xfrm>
          <a:prstGeom prst="rect">
            <a:avLst/>
          </a:prstGeom>
          <a:solidFill>
            <a:srgbClr val="6D28D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16368" y="10972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516368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LLMs suportados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0040" y="23774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4B"/>
                </a:solidFill>
              </a:rPr>
              <a:t>Simulações representativas — taxa efetiva calculada pelo motor: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697480"/>
          <a:ext cx="8503920" cy="170688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Taxa Efetiva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Fee em R$1.000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Composição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Visa Platinum · Supermercado · CP · À vista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</a:rPr>
                        <a:t>1,46%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R$14,60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base 1,73% + adj −0,27%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MC Black · Supermercado · CP · À vista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</a:rPr>
                        <a:t>1,53%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R$15,30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base 1,80% + adj segmento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Amex Platinum · Hotel/T&amp;E · CP · À vista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</a:rPr>
                        <a:t>2,40%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R$24,00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base 2,10% + adj +0,30%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Visa Classic · Supermercado · CP · Parcelado 6x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</a:rPr>
                        <a:t>1,08%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R$10,80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base 1,17% − 0,27% + 0,62% parc. diferenciado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MC Platinum · Outros · CNP autenticado · À vista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</a:rPr>
                        <a:t>1,88%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R$18,80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base 1,73% + 0,15% CNP auth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Elo Débito · Supermercado · CP · À vista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</a:rPr>
                        <a:t>0,25%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R$2,50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débito — dentro teto BCB (0,50%)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Fontes: developercielo.github.io | bcb.gov.br/PAAR | Resoluções BCB 35/2020 &amp; CMN 4.282/2013 | Cielo/Rede IRF 2024 | Dados de amostra compilados de referências públicas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ROADMAP DOCTORAL — DO PIPELINE AO AGENTE DE IA AUTÔNOMO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92608" y="1078992"/>
            <a:ext cx="2779776" cy="3858768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1078992"/>
            <a:ext cx="2779776" cy="475488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FASE 1 · MVP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3350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</a:rPr>
              <a:t>Concluído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2336" y="1664208"/>
            <a:ext cx="201168" cy="201168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166420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Extração regex + LLM multi-provedor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02336" y="2249424"/>
            <a:ext cx="201168" cy="201168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24942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140 regras: Visa, MC, Amex, Elo, Hipercard, BCB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02336" y="2834640"/>
            <a:ext cx="201168" cy="201168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283464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API REST + Dashboard Streamlit + Airflow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02336" y="3419856"/>
            <a:ext cx="201168" cy="201168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41985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115 testes automatizados (100% pass rate)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02336" y="4005072"/>
            <a:ext cx="201168" cy="201168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400507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Detecção automática de violações BCB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36976" y="1078992"/>
            <a:ext cx="2779776" cy="3858768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36976" y="1078992"/>
            <a:ext cx="2779776" cy="47548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3328416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FASE 2 · INTERMEDIÁRIO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8416" y="13350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</a:rPr>
              <a:t>6–12 meses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1664208"/>
            <a:ext cx="201168" cy="20116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3621024" y="166420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OCR (pytesseract) para PDFs escaneados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46704" y="2249424"/>
            <a:ext cx="201168" cy="20116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3621024" y="224942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Document AI para tabelas aninhadas complexas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46704" y="2834640"/>
            <a:ext cx="201168" cy="20116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7" name="Text 25"/>
          <p:cNvSpPr/>
          <p:nvPr/>
        </p:nvSpPr>
        <p:spPr>
          <a:xfrm>
            <a:off x="3621024" y="283464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NER customizado para entidades de intercâmbio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346704" y="3419856"/>
            <a:ext cx="201168" cy="20116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9" name="Text 27"/>
          <p:cNvSpPr/>
          <p:nvPr/>
        </p:nvSpPr>
        <p:spPr>
          <a:xfrm>
            <a:off x="3621024" y="341985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Diff semântico entre versões trimestrais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46704" y="4005072"/>
            <a:ext cx="201168" cy="20116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1" name="Text 29"/>
          <p:cNvSpPr/>
          <p:nvPr/>
        </p:nvSpPr>
        <p:spPr>
          <a:xfrm>
            <a:off x="3621024" y="400507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Integração API PAAR do BCB (validação automática)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81344" y="1078992"/>
            <a:ext cx="2779776" cy="3858768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81344" y="1078992"/>
            <a:ext cx="2779776" cy="47548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4" name="Text 32"/>
          <p:cNvSpPr/>
          <p:nvPr/>
        </p:nvSpPr>
        <p:spPr>
          <a:xfrm>
            <a:off x="6272784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FASE 3 · NÍVEL DOCTORAL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3350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</a:rPr>
              <a:t>12–24 meses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291072" y="1664208"/>
            <a:ext cx="201168" cy="2011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7" name="Text 35"/>
          <p:cNvSpPr/>
          <p:nvPr/>
        </p:nvSpPr>
        <p:spPr>
          <a:xfrm>
            <a:off x="6565392" y="166420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Fine-tuning de LLM em corpus de manuais BR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91072" y="2249424"/>
            <a:ext cx="201168" cy="2011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9" name="Text 37"/>
          <p:cNvSpPr/>
          <p:nvPr/>
        </p:nvSpPr>
        <p:spPr>
          <a:xfrm>
            <a:off x="6565392" y="224942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RAG: consultas em linguagem natural sobre regras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91072" y="2834640"/>
            <a:ext cx="201168" cy="2011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1" name="Text 39"/>
          <p:cNvSpPr/>
          <p:nvPr/>
        </p:nvSpPr>
        <p:spPr>
          <a:xfrm>
            <a:off x="6565392" y="283464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Knowledge Graph: Bandeira→Produto→Regra→Segmento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291072" y="3419856"/>
            <a:ext cx="201168" cy="2011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3" name="Text 41"/>
          <p:cNvSpPr/>
          <p:nvPr/>
        </p:nvSpPr>
        <p:spPr>
          <a:xfrm>
            <a:off x="6565392" y="341985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HITL (Human-in-the-Loop) com revisão formal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91072" y="4005072"/>
            <a:ext cx="201168" cy="2011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5" name="Text 43"/>
          <p:cNvSpPr/>
          <p:nvPr/>
        </p:nvSpPr>
        <p:spPr>
          <a:xfrm>
            <a:off x="6565392" y="400507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Contribuição: modelo de extração de regras tarifárias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92608" y="4956048"/>
            <a:ext cx="8558784" cy="457200"/>
          </a:xfrm>
          <a:prstGeom prst="rect">
            <a:avLst/>
          </a:prstGeom>
          <a:solidFill>
            <a:srgbClr val="0F766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2336" y="4992624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CONTRIBUIÇÃO DOCTORAL: Primeira implementação open-source de pipeline HITL para extração estruturada de regras de intercâmbio em múltiplas Bandeiras do mercado brasileiro, com score de confiança BCB-aware e suporte multi-LLM.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REGULATÓRIA BCB — CONFORMIDADE POR FAMÍLIA DE CARTÃO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1024128"/>
          <a:ext cx="85039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617720"/>
            <a:ext cx="8503920" cy="411480"/>
          </a:xfrm>
          <a:prstGeom prst="rect">
            <a:avLst/>
          </a:prstGeom>
          <a:solidFill>
            <a:srgbClr val="FEF2F2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20040" y="4617720"/>
            <a:ext cx="109728" cy="411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46360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</a:rPr>
              <a:t>⚠  American Express Prepaid Standard (1,20%) está ACIMA do teto BCB de 0,70% para pré-pago doméstico — violação detectada automaticamente pelo sistema. Fonte: Resolução BCB nº 35/2020, Art. 4º, §2º.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286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984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32588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Pipeline completo e funcional: 140 regras estruturadas, 6 bandeiras, 115 testes.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7393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18013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Multi-LLM: Claude, GPT, Gemini, Ollama — sem vendor lock-in.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24942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27685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Conformidade BCB implementada — detectou violação AmEx Prepaid (1,20% &gt; 0,70%).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72491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275234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Dashboard cobre as 4 perguntas guia do desafio via API + interface visual.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⚡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2278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</a:rPr>
              <a:t>Lacunas declaradas com honestidade: PDFs proprietários, RAG, fine-tuning, diff semântico.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6758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8680" y="37033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</a:rPr>
              <a:t>Contribuição Doctoral: framework HITL BCB-aware para extração de regras tarifárias.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Interchange AI v2.0  ·  Roberto Júnior — NCDD /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2363</Words>
  <Application>Microsoft Office PowerPoint</Application>
  <PresentationFormat>Apresentação na tela (16:9)</PresentationFormat>
  <Paragraphs>406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Interchange AI — Pipeline de IA para Taxas de Intercâmbio</dc:title>
  <dc:subject>PptxGenJS Presentation</dc:subject>
  <dc:creator>Roberto Braga Jr. — NCDD / PUCPR Digital</dc:creator>
  <cp:lastModifiedBy>Nielsen Castelo</cp:lastModifiedBy>
  <cp:revision>4</cp:revision>
  <dcterms:created xsi:type="dcterms:W3CDTF">2026-03-25T20:36:53Z</dcterms:created>
  <dcterms:modified xsi:type="dcterms:W3CDTF">2026-03-26T11:25:19Z</dcterms:modified>
</cp:coreProperties>
</file>