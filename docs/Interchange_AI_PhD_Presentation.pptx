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20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Visa</c:v>
                </c:pt>
              </c:strCache>
            </c:strRef>
          </c:tx>
          <c:spPr>
            <a:solidFill>
              <a:srgbClr val="1A5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Classic</c:v>
                </c:pt>
                <c:pt idx="1">
                  <c:v>Gold</c:v>
                </c:pt>
                <c:pt idx="2">
                  <c:v>Platinum</c:v>
                </c:pt>
                <c:pt idx="3">
                  <c:v>Signature</c:v>
                </c:pt>
                <c:pt idx="4">
                  <c:v>Infinite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1.17</c:v>
                </c:pt>
                <c:pt idx="1">
                  <c:v>1.34</c:v>
                </c:pt>
                <c:pt idx="2">
                  <c:v>1.73</c:v>
                </c:pt>
                <c:pt idx="3">
                  <c:v>1.79</c:v>
                </c:pt>
                <c:pt idx="4">
                  <c:v>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64-48E1-B261-72ACE9BC95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Mastercard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Classic</c:v>
                </c:pt>
                <c:pt idx="1">
                  <c:v>Gold</c:v>
                </c:pt>
                <c:pt idx="2">
                  <c:v>Platinum</c:v>
                </c:pt>
                <c:pt idx="3">
                  <c:v>Signature</c:v>
                </c:pt>
                <c:pt idx="4">
                  <c:v>Infinite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1.17</c:v>
                </c:pt>
                <c:pt idx="1">
                  <c:v>1.27</c:v>
                </c:pt>
                <c:pt idx="2">
                  <c:v>1.69</c:v>
                </c:pt>
                <c:pt idx="3">
                  <c:v>2.27</c:v>
                </c:pt>
                <c:pt idx="4">
                  <c:v>2.27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64-48E1-B261-72ACE9BC95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pt-B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Máxima Praticada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Visa Débito</c:v>
                </c:pt>
                <c:pt idx="1">
                  <c:v>MC Débito</c:v>
                </c:pt>
                <c:pt idx="2">
                  <c:v>Elo Débito</c:v>
                </c:pt>
                <c:pt idx="3">
                  <c:v>Visa Pré-pago</c:v>
                </c:pt>
                <c:pt idx="4">
                  <c:v>MC Pré-pago</c:v>
                </c:pt>
                <c:pt idx="5">
                  <c:v>Elo Pré-pago</c:v>
                </c:pt>
                <c:pt idx="6">
                  <c:v>AmEx Pré-pago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0.7</c:v>
                </c:pt>
                <c:pt idx="4">
                  <c:v>0.7</c:v>
                </c:pt>
                <c:pt idx="5">
                  <c:v>0.7</c:v>
                </c:pt>
                <c:pt idx="6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20-483F-A34A-9E3C322C7B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Teto BCB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Visa Débito</c:v>
                </c:pt>
                <c:pt idx="1">
                  <c:v>MC Débito</c:v>
                </c:pt>
                <c:pt idx="2">
                  <c:v>Elo Débito</c:v>
                </c:pt>
                <c:pt idx="3">
                  <c:v>Visa Pré-pago</c:v>
                </c:pt>
                <c:pt idx="4">
                  <c:v>MC Pré-pago</c:v>
                </c:pt>
                <c:pt idx="5">
                  <c:v>Elo Pré-pago</c:v>
                </c:pt>
                <c:pt idx="6">
                  <c:v>AmEx Pré-pago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0.7</c:v>
                </c:pt>
                <c:pt idx="4">
                  <c:v>0.7</c:v>
                </c:pt>
                <c:pt idx="5">
                  <c:v>0.7</c:v>
                </c:pt>
                <c:pt idx="6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20-483F-A34A-9E3C322C7B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pt-B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913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70832"/>
            <a:ext cx="9144000" cy="772668"/>
          </a:xfrm>
          <a:prstGeom prst="rect">
            <a:avLst/>
          </a:prstGeom>
          <a:solidFill>
            <a:srgbClr val="10274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38912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INTERCHANGE 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Inteligência Artificial para Extração Automática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Regras de Taxas de Intercâmbio das Bandeiras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5603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788920"/>
            <a:ext cx="1325880" cy="438912"/>
          </a:xfrm>
          <a:prstGeom prst="rect">
            <a:avLst/>
          </a:prstGeom>
          <a:solidFill>
            <a:srgbClr val="1A56A0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889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VISA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01952" y="2788920"/>
            <a:ext cx="1325880" cy="438912"/>
          </a:xfrm>
          <a:prstGeom prst="rect">
            <a:avLst/>
          </a:prstGeom>
          <a:solidFill>
            <a:srgbClr val="C0392B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01952" y="27889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MASTERCARD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Desafio Bolsista Doutor  ·  Cielo·  2026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4434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</a:rPr>
              <a:t>DR. NIELSEN CASTELO DAMASCENO DANTAS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1078992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078992"/>
            <a:ext cx="475488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1078992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11155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4B"/>
                </a:solidFill>
              </a:rPr>
              <a:t>Contexto &amp; Motivação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59536" y="138988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Ecossistema de pagamentos BR, regulação BCB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" y="1865376"/>
            <a:ext cx="4206240" cy="694944"/>
          </a:xfrm>
          <a:prstGeom prst="rect">
            <a:avLst/>
          </a:prstGeom>
          <a:solidFill>
            <a:srgbClr val="EEF4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865376"/>
            <a:ext cx="475488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" y="1865376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190195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4B"/>
                </a:solidFill>
              </a:rPr>
              <a:t>Fontes Primárias &amp; Proveniência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9536" y="217627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Origens exatas dos dados — transparência metodológica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" y="2651760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" y="2651760"/>
            <a:ext cx="475488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2651760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268833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4B"/>
                </a:solidFill>
              </a:rPr>
              <a:t>Análise: Visa vs Mastercard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9536" y="296265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Diferenças estruturais por segmento e produto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" y="3438144"/>
            <a:ext cx="4206240" cy="694944"/>
          </a:xfrm>
          <a:prstGeom prst="rect">
            <a:avLst/>
          </a:prstGeom>
          <a:solidFill>
            <a:srgbClr val="EEF4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" y="3438144"/>
            <a:ext cx="475488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343814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9536" y="347472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4B"/>
                </a:solidFill>
              </a:rPr>
              <a:t>Variação por Tipo de Cartão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" y="374904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Crédito · Débito · Pré-pago · ATM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2608" y="4224528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4224528"/>
            <a:ext cx="475488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" y="4224528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9536" y="42611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4B"/>
                </a:solidFill>
              </a:rPr>
              <a:t>Ajustes Especiais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9536" y="453542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Parcelado · CNP · Contactless · Saque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36592" y="1078992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1078992"/>
            <a:ext cx="475488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1078992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11155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4B"/>
                </a:solidFill>
              </a:rPr>
              <a:t>Arquitetura do Pipeline de IA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03520" y="1389888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Regex + LLM multi-provedor + Validação BCB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1865376"/>
            <a:ext cx="4206240" cy="694944"/>
          </a:xfrm>
          <a:prstGeom prst="rect">
            <a:avLst/>
          </a:prstGeom>
          <a:solidFill>
            <a:srgbClr val="EEF4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6592" y="1865376"/>
            <a:ext cx="475488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736592" y="1865376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03520" y="190195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4B"/>
                </a:solidFill>
              </a:rPr>
              <a:t>Dashboard — Cobertura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303520" y="2176272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 que responde e o que ainda não responde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36592" y="2651760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36592" y="2651760"/>
            <a:ext cx="475488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4736592" y="2651760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03520" y="268833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4B"/>
                </a:solidFill>
              </a:rPr>
              <a:t>Desafios Técnicos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303520" y="2962656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PDFs, tabelas aninhadas, semântica condicional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36592" y="3438144"/>
            <a:ext cx="4206240" cy="694944"/>
          </a:xfrm>
          <a:prstGeom prst="rect">
            <a:avLst/>
          </a:prstGeom>
          <a:solidFill>
            <a:srgbClr val="EEF4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36592" y="3438144"/>
            <a:ext cx="475488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4736592" y="3438144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03520" y="347472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4B"/>
                </a:solidFill>
              </a:rPr>
              <a:t>Evolução Doctoral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303520" y="3749040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RAG · Fine-tuning · NER · HITL · Roadmap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36592" y="4224528"/>
            <a:ext cx="4206240" cy="69494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36592" y="4224528"/>
            <a:ext cx="475488" cy="6949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1" name="Text 49"/>
          <p:cNvSpPr/>
          <p:nvPr/>
        </p:nvSpPr>
        <p:spPr>
          <a:xfrm>
            <a:off x="4736592" y="4224528"/>
            <a:ext cx="475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03520" y="42611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F4B"/>
                </a:solidFill>
              </a:rPr>
              <a:t>Conclusão &amp; Contribuição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303520" y="453542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Resultados alcançados e próximos passos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— ECOSSISTEMA DE PAGAMENTOS BRASILEIRO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47472" y="1078992"/>
            <a:ext cx="1993392" cy="1298448"/>
          </a:xfrm>
          <a:prstGeom prst="rect">
            <a:avLst/>
          </a:prstGeom>
          <a:solidFill>
            <a:srgbClr val="1A56A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14300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6+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" y="184708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Bandeiras ativas no Brasil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23744" y="1078992"/>
            <a:ext cx="1993392" cy="1298448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23744" y="114300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R$3T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23744" y="184708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Volume transacionado/ano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0016" y="1078992"/>
            <a:ext cx="1993392" cy="1298448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0016" y="114300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140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00016" y="184708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Regras estruturadas no DB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76288" y="1078992"/>
            <a:ext cx="1993392" cy="1298448"/>
          </a:xfrm>
          <a:prstGeom prst="rect">
            <a:avLst/>
          </a:prstGeom>
          <a:solidFill>
            <a:srgbClr val="D9770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76288" y="114300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BCB 35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76288" y="184708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Resolução regulatória base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542032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542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 intercâmbio é a taxa paga pelo banco adquirente ao banco emissor em cada transação. É o principal componente de custo do MDR (Merchant Discount Rate) cobrado dos estabelecimentos comerciais.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118104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11810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No Brasil, as regras são definidas por cada Bandeira em manuais técnicos atualizados trimestralmente, com centenas de combinações de produto × segmento × canal × parcelamento.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69417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9417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 Banco Central regula os tetos para débito (0,50%) e pré-pago (0,70%) pela Resolução 35/2020. Crédito PF não tem teto regulatório — varia de 1,10% a 2,45%.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4270248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27024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O objetivo do Interchange AI é automatizar a extração, estruturação e comparação dessas regras, eliminando o trabalho manual hoje feito por equipes de pricing e regulatório.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Fontes: developercielo.github.io | bcb.gov.br/PAAR | Resoluções BCB 35/2020 &amp; CMN 4.282/2013 | Cielo/Rede IRF 2024 | Dados de amostra compilados de referências públicas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PRIMÁRIAS — DE ONDE VIERAM OS DADOS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621792"/>
          </a:xfrm>
          <a:prstGeom prst="rect">
            <a:avLst/>
          </a:prstGeom>
          <a:solidFill>
            <a:srgbClr val="FEF3C7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24128"/>
            <a:ext cx="109728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6070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</a:rPr>
              <a:t>⚠  DECLARAÇÃO METODOLÓGICA: Os manuais oficiais de intercâmbio Visa e Mastercard são DOCUMENTOS CONFIDENCIAIS, distribuídos exclusivamente a membros credenciados (bancos emissores, credenciadoras) sob NDA. Os dados do projeto são baseados em referências públicas equivalentes listadas abaixo.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755648"/>
            <a:ext cx="850392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55648"/>
            <a:ext cx="960120" cy="45720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7556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VISA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53312" y="17830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4B"/>
                </a:solidFill>
              </a:rPr>
              <a:t>visa_sample.txt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53312" y="19933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Portal Cielo IRF 2024 + relatórios PAAR BCB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62272" y="18562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A56A0"/>
                </a:solidFill>
              </a:rPr>
              <a:t>developercielo.github.io/manual • visa.com/merchantsites/us/dam/VIOR.pdf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2276856"/>
            <a:ext cx="8503920" cy="457200"/>
          </a:xfrm>
          <a:prstGeom prst="rect">
            <a:avLst/>
          </a:prstGeom>
          <a:solidFill>
            <a:srgbClr val="EEF4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76856"/>
            <a:ext cx="9601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276856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MASTERCARD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3042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4B"/>
                </a:solidFill>
              </a:rPr>
              <a:t>mastercard_sample.txt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53312" y="25146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MC Interchange Program BR 2024 + notas Cielo/Rede CVM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62272" y="23774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A56A0"/>
                </a:solidFill>
              </a:rPr>
              <a:t>mastercard.com/interchange • bc.gov.br/PAAR 2024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2833878"/>
            <a:ext cx="8503920" cy="457200"/>
          </a:xfrm>
          <a:prstGeom prst="rect">
            <a:avLst/>
          </a:prstGeom>
          <a:solidFill>
            <a:srgbClr val="EEF4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2833878"/>
            <a:ext cx="960120" cy="45720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283387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BCB (Limites)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53312" y="286131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1F4B"/>
                </a:solidFill>
              </a:rPr>
              <a:t>sample_interchange_rules.csv (BCB_Limite)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353312" y="307162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Resolução BCB nº 35/2020 + CMN 4.282/2013 (lei pública)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462272" y="293446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A56A0"/>
                </a:solidFill>
              </a:rPr>
              <a:t>bcb.gov.br › Res_0035_v1_O.pdf • normativos.bcb.gov.br/Circ_3886</a:t>
            </a:r>
            <a:endParaRPr lang="en-US" sz="750" dirty="0"/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F95739E1-E6B9-4423-93E0-36C91F457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748" y="3390900"/>
            <a:ext cx="1513352" cy="1682318"/>
          </a:xfrm>
          <a:prstGeom prst="rect">
            <a:avLst/>
          </a:prstGeom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id="{16522426-364E-4B89-9976-50DD9CCB0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874" y="3390900"/>
            <a:ext cx="1185179" cy="16823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vs MASTERCARD — TAXAS BASE CRÉDITO PF (À VISTA · CARTÃO PRESENTE)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24128"/>
          <a:ext cx="8503920" cy="2270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Produto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Visa (%)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Mastercard (%)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Δ (pp)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Favorece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Classic / Standard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1,17%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1,10–1,23%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≈ 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MC (supermercados)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Gold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1,34%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1,20–1,34%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 a −0,14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MC ligeiramente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Platinum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1,73%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1,65–1,73%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≈ 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Empate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Black / Infinite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1,83%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1,80–1,83%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≈ 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Empate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Signature / World Legend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1,79%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2,22–2,32%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C2626"/>
                          </a:solidFill>
                        </a:rPr>
                        <a:t>+0,43–0,53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VISA (−43 pp)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PJ Corporativo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2,08%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1,80%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A34A"/>
                          </a:solidFill>
                        </a:rPr>
                        <a:t>−0,28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MC (−28 pp)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PJ PCard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N/A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0,75%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MC exclusivo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Agro Comercial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N/A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1,65%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MC exclusivo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EEF4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3"/>
          <p:cNvSpPr/>
          <p:nvPr/>
        </p:nvSpPr>
        <p:spPr>
          <a:xfrm>
            <a:off x="320040" y="4133088"/>
            <a:ext cx="109728" cy="530352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1696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4B"/>
                </a:solidFill>
              </a:rPr>
              <a:t>💡  INSIGHT CHAVE: A Mastercard é estruturalmente mais cara para o topo PF (World Legend +43pp vs Infinite Visa), mas significativamente mais barata para PJ corporativo e PCard. Para e-commerce autenticado CNP, a MC cobra +0,15% vs +0,40% da Visa — vantagem material para o mercado digital.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Fontes: developercielo.github.io | bcb.gov.br/PAAR | Resoluções BCB 35/2020 &amp; CMN 4.282/2013 | Cielo/Rede IRF 2024 | Dados de amostra compilados de referências públicas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TAXAS BASE — CRÉDITO PF — TODAS AS BANDEIRAS</a:t>
            </a:r>
            <a:endParaRPr lang="en-US" sz="2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24128"/>
          <a:ext cx="85039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Fontes: developercielo.github.io | bcb.gov.br/PAAR | Resoluções BCB 35/2020 &amp; CMN 4.282/2013 | Cielo/Rede IRF 2024 | Dados de amostra compilados de referências públicas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DE TAXAS POR FAMÍLIA DE CARTÃO · TRANSAÇÃO · SEGMENTO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17556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114800" cy="411480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CRÉDITO PF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6A0"/>
                </a:solidFill>
              </a:rPr>
              <a:t>1,10% – 2,45%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Maior amplitude. Topo: Amex Centurion 2,45%.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Base: MC Standard supermercado 1,10%.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27448" y="1097280"/>
            <a:ext cx="4114800" cy="17556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097280"/>
            <a:ext cx="4114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727448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CRÉDITO PJ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5727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0,75% – 2,30%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64608" y="193852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PCard MC: 0,75% (mais barato do mercado).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Amex Corporate Platinum: 2,30%.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114800" cy="17556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411480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017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DÉBITO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4930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</a:rPr>
              <a:t>0,25% – 0,50%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385876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Teto BCB: 0,50% + cap R$0,35.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MC: até R$0,30 cap em alguns segmentos.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27448" y="3017520"/>
            <a:ext cx="4114800" cy="17556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27448" y="3017520"/>
            <a:ext cx="411480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727448" y="3017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PRÉ-PAGO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4930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</a:rPr>
              <a:t>0,30% – 1,20%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64608" y="385876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Teto BCB: 0,70%.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⚠ Amex Prepaid 1,20% — VIOLA o teto BCB!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681728"/>
            <a:ext cx="8503920" cy="365760"/>
          </a:xfrm>
          <a:prstGeom prst="rect">
            <a:avLst/>
          </a:prstGeom>
          <a:solidFill>
            <a:srgbClr val="0B1F4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4700016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SAQUE ATM (taxa fixa):  Visa R$8,00  ·  MC Crédito R$8,00  ·  MC Débito R$6,50  ·  Elo R$7,00  ·  Amex R$10,00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ESPECIAIS — PARCELADO · CNP · CONTACTLESS · SAQUE · PRÉ-PAGO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Parcelamento (ajuste adicional sobre taxa base):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47451"/>
              </p:ext>
            </p:extLst>
          </p:nvPr>
        </p:nvGraphicFramePr>
        <p:xfrm>
          <a:off x="320040" y="1335024"/>
          <a:ext cx="2779776" cy="9753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Parcelas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Visa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2–6x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+0,35%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+0,65%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7–12x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+1,00%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7–21x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+0,90%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146040" y="1005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CNP / Não Presencial:</a:t>
            </a:r>
            <a:endParaRPr lang="en-US" sz="11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13770"/>
              </p:ext>
            </p:extLst>
          </p:nvPr>
        </p:nvGraphicFramePr>
        <p:xfrm>
          <a:off x="5146040" y="1289939"/>
          <a:ext cx="3017520" cy="1463040"/>
        </p:xfrm>
        <a:graphic>
          <a:graphicData uri="http://schemas.openxmlformats.org/drawingml/2006/table">
            <a:tbl>
              <a:tblPr/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Canal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Visa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CNP autenticado (ECI5/2)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+0,40%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+0,15%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CNP não autenticado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+0,55%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+0,20%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Débito CNP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−0,05%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−0,25%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Pré-pago CNP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−0,40%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−0,40%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Amex SafeKey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+0,30%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20040" y="3127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Contactless:</a:t>
            </a:r>
            <a:endParaRPr lang="en-US" sz="11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041488"/>
              </p:ext>
            </p:extLst>
          </p:nvPr>
        </p:nvGraphicFramePr>
        <p:xfrm>
          <a:off x="320040" y="3429000"/>
          <a:ext cx="2560320" cy="7315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Bandeira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Ajuste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Visa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0,00%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Mastercard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+0,05%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3200400" y="2902966"/>
            <a:ext cx="5715000" cy="192024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200400" y="2902966"/>
            <a:ext cx="571500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7"/>
          <p:cNvSpPr/>
          <p:nvPr/>
        </p:nvSpPr>
        <p:spPr>
          <a:xfrm>
            <a:off x="3200400" y="2902966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CONFORMIDADE BCB — Resolução nº 35/2020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337560" y="332359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✅  Débito doméstico: teto 0,50% | cap absoluto R$ 0,35/transação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3337560" y="361619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✅  Transporte público: cap R$ 0,12 | Micro comércios: cap R$ 0,25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3337560" y="3908806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✅  Pré-pago doméstico: teto 0,70%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3337560" y="420141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⚠️  AmEx Prepaid Standard: 1,20% — ACIMA do teto BCB (0,70%)</a:t>
            </a:r>
            <a:endParaRPr lang="en-US" sz="950" dirty="0"/>
          </a:p>
        </p:txBody>
      </p:sp>
      <p:sp>
        <p:nvSpPr>
          <p:cNvPr id="5" name="Text 12"/>
          <p:cNvSpPr/>
          <p:nvPr/>
        </p:nvSpPr>
        <p:spPr>
          <a:xfrm>
            <a:off x="3337560" y="449402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ℹ️   Crédito PF: SEM teto regulatório — mercado livre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64490" y="491464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Fontes: developercielo.github.io | bcb.gov.br/PAAR | Resoluções BCB 35/2020 &amp; CMN 4.282/2013 | Cielo/Rede IRF 2024 | Dados de amostra compilados de referências públicas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ARQUITETURA DO PIPELINE DE IA — 7 CAMADAS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1115568"/>
            <a:ext cx="1115568" cy="1234440"/>
          </a:xfrm>
          <a:prstGeom prst="rect">
            <a:avLst/>
          </a:prstGeom>
          <a:solidFill>
            <a:srgbClr val="1A56A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" y="111556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92608" y="14813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INGESTÃO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184708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PDF · TXT · HTML · CSV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08176" y="15087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27048" y="1115568"/>
            <a:ext cx="1115568" cy="1234440"/>
          </a:xfrm>
          <a:prstGeom prst="rect">
            <a:avLst/>
          </a:prstGeom>
          <a:solidFill>
            <a:srgbClr val="0F766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27048" y="111556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27048" y="14813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EXTRAÇÃO TEXTO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27048" y="184708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pdfplumber · pypdf · OCR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42616" y="15087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61488" y="1115568"/>
            <a:ext cx="1115568" cy="1234440"/>
          </a:xfrm>
          <a:prstGeom prst="rect">
            <a:avLst/>
          </a:prstGeom>
          <a:solidFill>
            <a:srgbClr val="1A56A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61488" y="111556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61488" y="14813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CHUNKING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61488" y="184708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Segmentação 800 chars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877056" y="15087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95928" y="1115568"/>
            <a:ext cx="1115568" cy="1234440"/>
          </a:xfrm>
          <a:prstGeom prst="rect">
            <a:avLst/>
          </a:prstGeom>
          <a:solidFill>
            <a:srgbClr val="0F766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95928" y="111556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95928" y="14813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REGEX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95928" y="184708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15+ padrões · patterns.py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11496" y="15087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30368" y="1115568"/>
            <a:ext cx="1115568" cy="1234440"/>
          </a:xfrm>
          <a:prstGeom prst="rect">
            <a:avLst/>
          </a:prstGeom>
          <a:solidFill>
            <a:srgbClr val="6D28D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30368" y="111556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30368" y="14813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LLM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30368" y="184708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Claude·GPT·Gemini·Ollama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45936" y="15087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64808" y="1115568"/>
            <a:ext cx="1115568" cy="1234440"/>
          </a:xfrm>
          <a:prstGeom prst="rect">
            <a:avLst/>
          </a:prstGeom>
          <a:solidFill>
            <a:srgbClr val="B4530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64808" y="111556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64808" y="14813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VALIDAÇÃO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64808" y="184708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Score 0-1 · BCB-aware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580376" y="15087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99248" y="1115568"/>
            <a:ext cx="1115568" cy="1234440"/>
          </a:xfrm>
          <a:prstGeom prst="rect">
            <a:avLst/>
          </a:prstGeom>
          <a:solidFill>
            <a:srgbClr val="065F4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99248" y="1115568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699248" y="1481328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PERSISTÊNCIA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99248" y="184708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ADCFC"/>
                </a:solidFill>
              </a:rPr>
              <a:t>SQLite · PostgreSQL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92608" y="2487168"/>
            <a:ext cx="8558784" cy="475488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" y="251460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MULTI-LLM SUPPORT — Agnóstico de provedor: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83280" y="2542032"/>
            <a:ext cx="1280160" cy="365760"/>
          </a:xfrm>
          <a:prstGeom prst="rect">
            <a:avLst/>
          </a:prstGeom>
          <a:solidFill>
            <a:srgbClr val="6D28D9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0" y="2542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Anthropic Claude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73168" y="2542032"/>
            <a:ext cx="1280160" cy="365760"/>
          </a:xfrm>
          <a:prstGeom prst="rect">
            <a:avLst/>
          </a:prstGeom>
          <a:solidFill>
            <a:srgbClr val="0F766E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2542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OpenAI GPT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63056" y="2542032"/>
            <a:ext cx="1280160" cy="365760"/>
          </a:xfrm>
          <a:prstGeom prst="rect">
            <a:avLst/>
          </a:prstGeom>
          <a:solidFill>
            <a:srgbClr val="1A56A0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163056" y="2542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Google Gemini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552944" y="2542032"/>
            <a:ext cx="1280160" cy="365760"/>
          </a:xfrm>
          <a:prstGeom prst="rect">
            <a:avLst/>
          </a:prstGeom>
          <a:solidFill>
            <a:srgbClr val="065F46">
              <a:alpha val="8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552944" y="2542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Ollama (Local)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92608" y="3127248"/>
            <a:ext cx="2029968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92608" y="3127248"/>
            <a:ext cx="2029968" cy="347472"/>
          </a:xfrm>
          <a:prstGeom prst="rect">
            <a:avLst/>
          </a:prstGeom>
          <a:solidFill>
            <a:srgbClr val="1A56A0"/>
          </a:solidFill>
          <a:ln/>
        </p:spPr>
      </p:sp>
      <p:sp>
        <p:nvSpPr>
          <p:cNvPr id="50" name="Text 48"/>
          <p:cNvSpPr/>
          <p:nvPr/>
        </p:nvSpPr>
        <p:spPr>
          <a:xfrm>
            <a:off x="292608" y="31272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FastAPI REST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02336" y="354787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/rules /simulate /compare /extract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487168" y="3127248"/>
            <a:ext cx="2029968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487168" y="3127248"/>
            <a:ext cx="2029968" cy="34747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4" name="Text 52"/>
          <p:cNvSpPr/>
          <p:nvPr/>
        </p:nvSpPr>
        <p:spPr>
          <a:xfrm>
            <a:off x="2487168" y="31272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Next JS/</a:t>
            </a:r>
            <a:r>
              <a:rPr lang="en-US" sz="1050" b="1" dirty="0" err="1">
                <a:solidFill>
                  <a:srgbClr val="FFFFFF"/>
                </a:solidFill>
              </a:rPr>
              <a:t>Streamlit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2596896" y="354787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Dashboard interativo + Plotly charts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81728" y="3127248"/>
            <a:ext cx="2029968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81728" y="3127248"/>
            <a:ext cx="2029968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8" name="Text 56"/>
          <p:cNvSpPr/>
          <p:nvPr/>
        </p:nvSpPr>
        <p:spPr>
          <a:xfrm>
            <a:off x="4681728" y="31272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Relatório HTML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4791456" y="354787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Análise exploratória standalone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876288" y="3127248"/>
            <a:ext cx="2029968" cy="1737360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876288" y="3127248"/>
            <a:ext cx="2029968" cy="34747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2" name="Text 60"/>
          <p:cNvSpPr/>
          <p:nvPr/>
        </p:nvSpPr>
        <p:spPr>
          <a:xfrm>
            <a:off x="6876288" y="3127248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Airflow DAG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986016" y="3547872"/>
            <a:ext cx="1810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Orquestração semanal automática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O QUE RESPONDE E LACUNAS IDENTIFICADAS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1024128"/>
            <a:ext cx="416052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" y="10241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O QUE O DASHBOARD RESPONDE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" y="1417320"/>
            <a:ext cx="32004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4173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4356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Taxas base Visa, MC (outros: Amex, Elo, </a:t>
            </a:r>
            <a:r>
              <a:rPr lang="en-US" sz="950" dirty="0" err="1">
                <a:solidFill>
                  <a:srgbClr val="1E293B"/>
                </a:solidFill>
              </a:rPr>
              <a:t>Hipercard</a:t>
            </a:r>
            <a:r>
              <a:rPr lang="en-US" sz="950" dirty="0">
                <a:solidFill>
                  <a:srgbClr val="1E293B"/>
                </a:solidFill>
              </a:rPr>
              <a:t>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" y="1755648"/>
            <a:ext cx="32004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" y="17556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77393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Filtros por produto, canal, segmento, público (PF/PJ)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2093976"/>
            <a:ext cx="32004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" y="209397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1122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Simulador de taxa efetiva com fee em R$ por valor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" y="2432304"/>
            <a:ext cx="32004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" y="24323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24505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Comparativo multi-bandeira side-by-side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" y="2770632"/>
            <a:ext cx="32004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7706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27889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Ajustes: parcelado, CNP, contactless, saque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" y="3108960"/>
            <a:ext cx="32004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" y="31089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31272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Conformidade BCB — alertas de violação automáticos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" y="3447288"/>
            <a:ext cx="32004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" y="34472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" y="34655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Exportação CSV das regras filtradas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" y="3785616"/>
            <a:ext cx="32004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" y="378561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" y="38039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Score de confiança de cada regra extraída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" y="4123944"/>
            <a:ext cx="32004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412394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" y="41422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API REST /compare e /simulate (Swagger docs)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92608" y="4462272"/>
            <a:ext cx="32004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292608" y="44622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✔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" y="44805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Log de extrações com auditoria por documento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1024128"/>
            <a:ext cx="416052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7" name="Text 35"/>
          <p:cNvSpPr/>
          <p:nvPr/>
        </p:nvSpPr>
        <p:spPr>
          <a:xfrm>
            <a:off x="4709160" y="10241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LACUNAS — EVOLUÇÃO FUTURA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1417320"/>
            <a:ext cx="4160520" cy="384048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00600" y="14447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Linguagem natural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160934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'Qual taxa Platinum supermercado 6x Visa?'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1856232"/>
            <a:ext cx="4160520" cy="3840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00600" y="188366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PDFs proprietários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204825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Manuais oficiais requerem credenciamento NDA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2295144"/>
            <a:ext cx="4160520" cy="384048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00600" y="232257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Diff semântico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00600" y="248716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Detectar mudanças entre versões trimestrais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2734056"/>
            <a:ext cx="4160520" cy="3840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800600" y="27614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Incentivos de volume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00600" y="29260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Thresholds de desconto por volume transacionado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3172968"/>
            <a:ext cx="4160520" cy="384048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800600" y="32004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Documentos escaneados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00600" y="33649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OCR + pre-processamento de imagem integrado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09160" y="3611880"/>
            <a:ext cx="4160520" cy="3840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800600" y="36393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Espanhol (LAC)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00600" y="38039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Regex e normalização para docs em espanhol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09160" y="4050792"/>
            <a:ext cx="4160520" cy="384048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800600" y="4078224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RAG integrado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800600" y="4242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Busca semântica sobre corpus de manuais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709160" y="4489704"/>
            <a:ext cx="4160520" cy="3840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800600" y="45171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Fine-tuning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800600" y="46817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Modelo especializado em intercâmbio BR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Fontes: developercielo.github.io | bcb.gov.br/PAAR | Resoluções BCB 35/2020 &amp; CMN 4.282/2013 | Cielo/Rede IRF 2024 | Dados de amostra compilados de referências públicas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TÉCNICOS — PRÉ-PROCESSAMENTO E EXTRAÇÃO PARA AGENTE DE IA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1078992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078992"/>
            <a:ext cx="420624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" y="1078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PDFs Escaneados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94176" y="1133856"/>
            <a:ext cx="694944" cy="237744"/>
          </a:xfrm>
          <a:prstGeom prst="rect">
            <a:avLst/>
          </a:prstGeom>
          <a:solidFill>
            <a:srgbClr val="DC2626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94176" y="113385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Alto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2336" y="14813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~40% dos documentos históricos são imagens digitalizadas. pytesseract tem ~15% taxa de erro em tabelas financeiras densas. Solução: pipeline OCR com pré-processamento de imagem (deskew, binarização, denoising) (</a:t>
            </a:r>
            <a:r>
              <a:rPr lang="en-US" sz="900" dirty="0" err="1">
                <a:solidFill>
                  <a:srgbClr val="1E293B"/>
                </a:solidFill>
              </a:rPr>
              <a:t>Docling</a:t>
            </a:r>
            <a:r>
              <a:rPr lang="en-US" sz="900" dirty="0">
                <a:solidFill>
                  <a:srgbClr val="1E293B"/>
                </a:solidFill>
              </a:rPr>
              <a:t>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36592" y="1078992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078992"/>
            <a:ext cx="420624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789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Tabelas Aninhadas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133856"/>
            <a:ext cx="694944" cy="237744"/>
          </a:xfrm>
          <a:prstGeom prst="rect">
            <a:avLst/>
          </a:prstGeom>
          <a:solidFill>
            <a:srgbClr val="DC2626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133856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Alto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4813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rowspan/colspan perdem alinhamento na extração de texto. pdfplumber falha em células mescladas. Solução: Document AI (Google/AWS Textract) + reconstrução semântica com LLM.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237744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2377440"/>
            <a:ext cx="420624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Terminologia Heterogênea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94176" y="2432304"/>
            <a:ext cx="694944" cy="237744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94176" y="243230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Médio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02336" y="2779776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Cada Bandeira nomeia o mesmo produto diferente: 'World Legend'=MC, 'Infinite'=Visa, 'Centurion'=Amex. O mapa canônico cobre 85+ produtos conhecidos — qualquer novo produto retorna None.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36592" y="2377440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2377440"/>
            <a:ext cx="420624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377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Condicionais Implícitas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2432304"/>
            <a:ext cx="694944" cy="237744"/>
          </a:xfrm>
          <a:prstGeom prst="rect">
            <a:avLst/>
          </a:prstGeom>
          <a:solidFill>
            <a:srgbClr val="DC2626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138160" y="243230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Alto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2779776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'...exceto para segmentos X e Y quando canal Z...' — regex não captura lógica condicional. Requer LLM com raciocínio lógico formal + validação por modelo de regras.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2608" y="3675888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92608" y="3675888"/>
            <a:ext cx="420624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02336" y="3675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 Atualizações Trimestrais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94176" y="3730752"/>
            <a:ext cx="694944" cy="237744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694176" y="373075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Médio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02336" y="407822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Sem diff semântico, impossível detectar qual regra mudou sem reprocessar tudo. Solução proposta: embedding vetorial + </a:t>
            </a:r>
            <a:r>
              <a:rPr lang="en-US" sz="900" dirty="0" err="1">
                <a:solidFill>
                  <a:srgbClr val="1E293B"/>
                </a:solidFill>
              </a:rPr>
              <a:t>similaridade</a:t>
            </a:r>
            <a:r>
              <a:rPr lang="en-US" sz="900" dirty="0">
                <a:solidFill>
                  <a:srgbClr val="1E293B"/>
                </a:solidFill>
              </a:rPr>
              <a:t> para detecção incremental de </a:t>
            </a:r>
            <a:r>
              <a:rPr lang="en-US" sz="900" dirty="0" err="1">
                <a:solidFill>
                  <a:srgbClr val="1E293B"/>
                </a:solidFill>
              </a:rPr>
              <a:t>mudanças</a:t>
            </a:r>
            <a:r>
              <a:rPr lang="en-US" sz="900" dirty="0">
                <a:solidFill>
                  <a:srgbClr val="1E293B"/>
                </a:solidFill>
              </a:rPr>
              <a:t> (</a:t>
            </a:r>
            <a:r>
              <a:rPr lang="en-US" sz="900" dirty="0" err="1">
                <a:solidFill>
                  <a:srgbClr val="1E293B"/>
                </a:solidFill>
              </a:rPr>
              <a:t>investigar</a:t>
            </a:r>
            <a:r>
              <a:rPr lang="en-US" sz="900" dirty="0">
                <a:solidFill>
                  <a:srgbClr val="1E293B"/>
                </a:solidFill>
              </a:rPr>
              <a:t> LLM </a:t>
            </a:r>
            <a:r>
              <a:rPr lang="en-US" sz="900" dirty="0" err="1">
                <a:solidFill>
                  <a:srgbClr val="1E293B"/>
                </a:solidFill>
              </a:rPr>
              <a:t>recursivo</a:t>
            </a:r>
            <a:r>
              <a:rPr lang="en-US" sz="900" dirty="0">
                <a:solidFill>
                  <a:srgbClr val="1E293B"/>
                </a:solidFill>
              </a:rPr>
              <a:t>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36592" y="3675888"/>
            <a:ext cx="420624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6592" y="3675888"/>
            <a:ext cx="420624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675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  Ambiguidade de Valor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38160" y="3730752"/>
            <a:ext cx="694944" cy="237744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138160" y="373075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Médio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6320" y="407822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'1,17%' pode ser taxa base, ajuste, ou teto dependendo do contexto da sentença. Score de confiança &lt; 0,50 sinaliza ambiguidade — requer revisão humana (HITL).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DO PIPELINE — VALIDAÇÃO COM DADOS DE REFERÊNCIA PÚBLICA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92608" y="1051560"/>
            <a:ext cx="1325880" cy="1188720"/>
          </a:xfrm>
          <a:prstGeom prst="rect">
            <a:avLst/>
          </a:prstGeom>
          <a:solidFill>
            <a:srgbClr val="1A56A0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" y="1097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140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92608" y="1783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Regras no banco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1051560"/>
            <a:ext cx="1325880" cy="118872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37360" y="1097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115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1783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Testes passando (100%)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82112" y="1051560"/>
            <a:ext cx="1325880" cy="118872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82112" y="1097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0,767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182112" y="1783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Score médio confiança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1051560"/>
            <a:ext cx="1325880" cy="1188720"/>
          </a:xfrm>
          <a:prstGeom prst="rect">
            <a:avLst/>
          </a:prstGeom>
          <a:solidFill>
            <a:srgbClr val="0B1F4B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1097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1783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Tipos de regra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71616" y="1051560"/>
            <a:ext cx="1325880" cy="1188720"/>
          </a:xfrm>
          <a:prstGeom prst="rect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71616" y="1097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71616" y="1783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Violação BCB detectada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16368" y="1051560"/>
            <a:ext cx="1325880" cy="1188720"/>
          </a:xfrm>
          <a:prstGeom prst="rect">
            <a:avLst/>
          </a:prstGeom>
          <a:solidFill>
            <a:srgbClr val="6D28D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16368" y="1097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516368" y="17830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LLMs suportados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2377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4B"/>
                </a:solidFill>
              </a:rPr>
              <a:t>Simulações representativas — taxa efetiva calculada pelo motor: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97480"/>
          <a:ext cx="8503920" cy="17068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Cenário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Taxa Efetiva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Fee em R$1.000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Composição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Visa Platinum · Supermercado · CP · À vista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1,46%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R$14,60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base 1,73% + adj −0,27%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MC Black · Supermercado · CP · À vista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1,53%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R$15,30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base 1,80% + adj segmento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Amex Platinum · Hotel/T&amp;E · CP · À vista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2,40%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R$24,00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base 2,10% + adj +0,30%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Visa Classic · Supermercado · CP · Parcelado 6x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1,08%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R$10,80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base 1,17% − 0,27% + 0,62% parc. diferenciado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MC Platinum · Outros · CNP autenticado · À vista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1,88%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R$18,80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base 1,73% + 0,15% CNP auth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Elo Débito · Supermercado · CP · À vista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0,25%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R$2,50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</a:rPr>
                        <a:t>débito — dentro teto BCB (0,50%)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</a:rPr>
              <a:t>Fontes: developercielo.github.io | bcb.gov.br/PAAR | Resoluções BCB 35/2020 &amp; CMN 4.282/2013 | Cielo/Rede IRF 2024 | Dados de amostra compilados de referências públicas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ROADMAP — DO PIPELINE AO AGENTE DE IA AUTÔNOMO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92608" y="1078992"/>
            <a:ext cx="2779776" cy="385876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1078992"/>
            <a:ext cx="2779776" cy="47548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097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1 · MVP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3350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Concluído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2336" y="1664208"/>
            <a:ext cx="201168" cy="2011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16642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Extração regex + LLM multi-provedor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" y="2249424"/>
            <a:ext cx="201168" cy="2011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2494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CADCFC"/>
                </a:solidFill>
              </a:rPr>
              <a:t>Regras</a:t>
            </a:r>
            <a:r>
              <a:rPr lang="en-US" sz="950" dirty="0">
                <a:solidFill>
                  <a:srgbClr val="CADCFC"/>
                </a:solidFill>
              </a:rPr>
              <a:t>: Visa, MC (opcional: Amex, Elo, </a:t>
            </a:r>
            <a:r>
              <a:rPr lang="en-US" sz="950" dirty="0" err="1">
                <a:solidFill>
                  <a:srgbClr val="CADCFC"/>
                </a:solidFill>
              </a:rPr>
              <a:t>Hipercard</a:t>
            </a:r>
            <a:r>
              <a:rPr lang="en-US" sz="950" dirty="0">
                <a:solidFill>
                  <a:srgbClr val="CADCFC"/>
                </a:solidFill>
              </a:rPr>
              <a:t>), BCB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" y="2834640"/>
            <a:ext cx="201168" cy="2011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2834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API REST + Dashboard Next.JS/</a:t>
            </a:r>
            <a:r>
              <a:rPr lang="en-US" sz="950" dirty="0" err="1">
                <a:solidFill>
                  <a:srgbClr val="CADCFC"/>
                </a:solidFill>
              </a:rPr>
              <a:t>Streamlit</a:t>
            </a:r>
            <a:r>
              <a:rPr lang="en-US" sz="950" dirty="0">
                <a:solidFill>
                  <a:srgbClr val="CADCFC"/>
                </a:solidFill>
              </a:rPr>
              <a:t> + Airflow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2336" y="3419856"/>
            <a:ext cx="201168" cy="2011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4198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Testes automatizados (100% pass rate)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" y="4005072"/>
            <a:ext cx="201168" cy="2011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40050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Detecção automática de violações BCB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36976" y="1078992"/>
            <a:ext cx="2779776" cy="385876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36976" y="1078992"/>
            <a:ext cx="2779776" cy="4754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3328416" y="1097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2 · INTERMEDIÁRIO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28416" y="13350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6–12 meses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46704" y="1664208"/>
            <a:ext cx="201168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3621024" y="16642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OCR (</a:t>
            </a:r>
            <a:r>
              <a:rPr lang="en-US" sz="950" dirty="0" err="1">
                <a:solidFill>
                  <a:srgbClr val="CADCFC"/>
                </a:solidFill>
              </a:rPr>
              <a:t>pytesseract</a:t>
            </a:r>
            <a:r>
              <a:rPr lang="en-US" sz="950" dirty="0">
                <a:solidFill>
                  <a:srgbClr val="CADCFC"/>
                </a:solidFill>
              </a:rPr>
              <a:t>, </a:t>
            </a:r>
            <a:r>
              <a:rPr lang="en-US" sz="950" dirty="0" err="1">
                <a:solidFill>
                  <a:srgbClr val="CADCFC"/>
                </a:solidFill>
              </a:rPr>
              <a:t>Docling</a:t>
            </a:r>
            <a:r>
              <a:rPr lang="en-US" sz="950" dirty="0">
                <a:solidFill>
                  <a:srgbClr val="CADCFC"/>
                </a:solidFill>
              </a:rPr>
              <a:t>) para PDFs escaneados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46704" y="2249424"/>
            <a:ext cx="201168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3621024" y="22494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Document AI para tabelas aninhadas complexas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46704" y="2834640"/>
            <a:ext cx="201168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3621024" y="2834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NER customizado para entidades de intercâmbio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46704" y="3419856"/>
            <a:ext cx="201168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3621024" y="34198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Diff semântico entre versões trimestrais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46704" y="4005072"/>
            <a:ext cx="201168" cy="20116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3621024" y="40050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Integração API PAAR do BCB (validação automática)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81344" y="1078992"/>
            <a:ext cx="2779776" cy="3858768"/>
          </a:xfrm>
          <a:prstGeom prst="rect">
            <a:avLst/>
          </a:prstGeom>
          <a:solidFill>
            <a:srgbClr val="16203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81344" y="1078992"/>
            <a:ext cx="2779776" cy="47548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4" name="Text 32"/>
          <p:cNvSpPr/>
          <p:nvPr/>
        </p:nvSpPr>
        <p:spPr>
          <a:xfrm>
            <a:off x="6272784" y="1097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3 · NÍVEL DOCTORAL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13350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</a:rPr>
              <a:t>12–24 meses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91072" y="1664208"/>
            <a:ext cx="201168" cy="2011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7" name="Text 35"/>
          <p:cNvSpPr/>
          <p:nvPr/>
        </p:nvSpPr>
        <p:spPr>
          <a:xfrm>
            <a:off x="6565392" y="166420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Fine-tuning de LLM em corpus de manuais BR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91072" y="2249424"/>
            <a:ext cx="201168" cy="2011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9" name="Text 37"/>
          <p:cNvSpPr/>
          <p:nvPr/>
        </p:nvSpPr>
        <p:spPr>
          <a:xfrm>
            <a:off x="6565392" y="22494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RAG: consultas em linguagem natural sobre regras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91072" y="2834640"/>
            <a:ext cx="201168" cy="2011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1" name="Text 39"/>
          <p:cNvSpPr/>
          <p:nvPr/>
        </p:nvSpPr>
        <p:spPr>
          <a:xfrm>
            <a:off x="6565392" y="28346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Knowledge Graph: Bandeira→Produto→Regra→Segmento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91072" y="3419856"/>
            <a:ext cx="201168" cy="2011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3" name="Text 41"/>
          <p:cNvSpPr/>
          <p:nvPr/>
        </p:nvSpPr>
        <p:spPr>
          <a:xfrm>
            <a:off x="6565392" y="34198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HITL (Human-in-the-Loop) com revisão formal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91072" y="4005072"/>
            <a:ext cx="201168" cy="2011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5" name="Text 43"/>
          <p:cNvSpPr/>
          <p:nvPr/>
        </p:nvSpPr>
        <p:spPr>
          <a:xfrm>
            <a:off x="6565392" y="40050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Contribuição: modelo de extração de regras tarifárias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92608" y="4687824"/>
            <a:ext cx="8558784" cy="457200"/>
          </a:xfrm>
          <a:prstGeom prst="rect">
            <a:avLst/>
          </a:prstGeom>
          <a:solidFill>
            <a:srgbClr val="0F766E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84048" y="4705604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CONTRIBUIÇÃO DOCTORAL: Primeira implementação open-source de pipeline HITL para extração estruturada de regras de intercâmbio em múltiplas Bandeiras do mercado brasileiro, com score de confiança BCB-aware e suporte multi-LLM.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REGULATÓRIA BCB — CONFORMIDADE POR FAMÍLIA DE CARTÃO</a:t>
            </a:r>
            <a:endParaRPr lang="en-US" sz="2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24128"/>
          <a:ext cx="85039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4617720"/>
            <a:ext cx="109728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6360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</a:rPr>
              <a:t>⚠  American Express Prepaid Standard (1,20%) está ACIMA do teto BCB de 0,70% para pré-pago doméstico — violação detectada automaticamente pelo sistema. Fonte: Resolução BCB nº 35/2020, Art. 4º, §2º.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286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3258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Pipeline completo e funcional: 140 regras estruturadas, 6 bandeiras, 115 testes.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7393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180136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Multi-LLM: Claude, GPT, Gemini, Ollama — sem vendor lock-in.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24942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227685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Conformidade BCB implementada — detectou violação AmEx Prepaid (1,20% &gt; 0,70%).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275234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Dashboard cobre as 4 perguntas guia do desafio via API + interface visual.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22783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</a:rPr>
              <a:t>Lacunas declaradas com honestidade: PDFs proprietários, RAG, fine-tuning, diff semântico.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758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7033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0D9488"/>
                </a:solidFill>
              </a:rPr>
              <a:t>Contribuição</a:t>
            </a:r>
            <a:r>
              <a:rPr lang="en-US" sz="1200" dirty="0">
                <a:solidFill>
                  <a:srgbClr val="0D9488"/>
                </a:solidFill>
              </a:rPr>
              <a:t>: framework HITL BCB-aware para extração de regras tarifárias.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Interchange AI  ·  NIELSEN CASTELO DAMASCENO DANTAS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2247</Words>
  <Application>Microsoft Office PowerPoint</Application>
  <PresentationFormat>Apresentação na tela (16:9)</PresentationFormat>
  <Paragraphs>378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Interchange AI — Pipeline de IA para Taxas de Intercâmbio</dc:title>
  <dc:subject>PptxGenJS Presentation</dc:subject>
  <dc:creator>Roberto Braga Jr. — NCDD / PUCPR Digital</dc:creator>
  <cp:lastModifiedBy>Nielsen Castelo</cp:lastModifiedBy>
  <cp:revision>16</cp:revision>
  <dcterms:created xsi:type="dcterms:W3CDTF">2026-03-25T20:36:53Z</dcterms:created>
  <dcterms:modified xsi:type="dcterms:W3CDTF">2026-03-26T11:44:43Z</dcterms:modified>
</cp:coreProperties>
</file>